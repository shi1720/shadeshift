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151c48995aa458e" /><Relationship Type="http://schemas.openxmlformats.org/officeDocument/2006/relationships/extended-properties" Target="/docProps/app.xml" Id="R834b7898a8c24829" /><Relationship Type="http://schemas.openxmlformats.org/officeDocument/2006/relationships/officeDocument" Target="/ppt/presentation.xml" Id="R321696432ac843fa" /></Relationships>
</file>

<file path=ppt/presentation.xml><?xml version="1.0" encoding="utf-8"?>
<p:presentation xmlns:p="http://schemas.openxmlformats.org/presentationml/2006/main">
  <p:sldMasterIdLst>
    <p:sldMasterId xmlns:r="http://schemas.openxmlformats.org/officeDocument/2006/relationships" id="2147483648" r:id="R9e98a77192d4442f"/>
  </p:sldMasterIdLst>
  <p:notesMasterIdLst>
    <p:notesMasterId xmlns:r="http://schemas.openxmlformats.org/officeDocument/2006/relationships" r:id="Rd25020c666cf4ad5"/>
  </p:notesMasterIdLst>
  <p:sldIdLst>
    <p:sldId xmlns:r="http://schemas.openxmlformats.org/officeDocument/2006/relationships" id="256" r:id="Re251743d51c248f9"/>
    <p:sldId xmlns:r="http://schemas.openxmlformats.org/officeDocument/2006/relationships" id="257" r:id="R9d7a8d5acc794dcf"/>
    <p:sldId xmlns:r="http://schemas.openxmlformats.org/officeDocument/2006/relationships" id="258" r:id="R117003ece3dc4cfe"/>
    <p:sldId xmlns:r="http://schemas.openxmlformats.org/officeDocument/2006/relationships" id="259" r:id="R190c667109d649ff"/>
    <p:sldId xmlns:r="http://schemas.openxmlformats.org/officeDocument/2006/relationships" id="260" r:id="R7254cd64fc7c4354"/>
    <p:sldId xmlns:r="http://schemas.openxmlformats.org/officeDocument/2006/relationships" id="261" r:id="R7af0f2414e124b38"/>
    <p:sldId xmlns:r="http://schemas.openxmlformats.org/officeDocument/2006/relationships" id="262" r:id="R5cd497fdbbf44253"/>
    <p:sldId xmlns:r="http://schemas.openxmlformats.org/officeDocument/2006/relationships" id="263" r:id="R13e52c536c134a8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b2308d144884866" /><Relationship Type="http://schemas.openxmlformats.org/officeDocument/2006/relationships/slideMaster" Target="/ppt/slideMasters/slideMaster1.xml" Id="R9e98a77192d4442f" /><Relationship Type="http://schemas.openxmlformats.org/officeDocument/2006/relationships/notesMaster" Target="/ppt/notesMasters/notesMaster1.xml" Id="Rd25020c666cf4ad5" /><Relationship Type="http://schemas.openxmlformats.org/officeDocument/2006/relationships/presProps" Target="/ppt/presProps.xml" Id="R21cf5060dc754b4d" /><Relationship Type="http://schemas.openxmlformats.org/officeDocument/2006/relationships/tableStyles" Target="/ppt/tableStyles.xml" Id="Re001332ab7224739" /><Relationship Type="http://schemas.openxmlformats.org/officeDocument/2006/relationships/slide" Target="/ppt/slides/slide1.xml" Id="Re251743d51c248f9" /><Relationship Type="http://schemas.openxmlformats.org/officeDocument/2006/relationships/slide" Target="/ppt/slides/slide2.xml" Id="R9d7a8d5acc794dcf" /><Relationship Type="http://schemas.openxmlformats.org/officeDocument/2006/relationships/slide" Target="/ppt/slides/slide3.xml" Id="R117003ece3dc4cfe" /><Relationship Type="http://schemas.openxmlformats.org/officeDocument/2006/relationships/slide" Target="/ppt/slides/slide4.xml" Id="R190c667109d649ff" /><Relationship Type="http://schemas.openxmlformats.org/officeDocument/2006/relationships/slide" Target="/ppt/slides/slide5.xml" Id="R7254cd64fc7c4354" /><Relationship Type="http://schemas.openxmlformats.org/officeDocument/2006/relationships/slide" Target="/ppt/slides/slide6.xml" Id="R7af0f2414e124b38" /><Relationship Type="http://schemas.openxmlformats.org/officeDocument/2006/relationships/slide" Target="/ppt/slides/slide7.xml" Id="R5cd497fdbbf44253" /><Relationship Type="http://schemas.openxmlformats.org/officeDocument/2006/relationships/slide" Target="/ppt/slides/slide8.xml" Id="R13e52c536c134a8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3f6c8ef86a1426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c2c249a52c94b42" /><Relationship Type="http://schemas.openxmlformats.org/officeDocument/2006/relationships/notesMaster" Target="/ppt/notesMasters/notesMaster1.xml" Id="Rfa14b607ce30469d" /></Relationships>
</file>

<file path=ppt/notesSlides/_rels/notesSlide2.xml.rels>&#65279;<?xml version="1.0" encoding="utf-8"?><Relationships xmlns="http://schemas.openxmlformats.org/package/2006/relationships"><Relationship Type="http://schemas.openxmlformats.org/officeDocument/2006/relationships/slide" Target="/ppt/slides/slide2.xml" Id="Rb2b998706bd84ae7" /><Relationship Type="http://schemas.openxmlformats.org/officeDocument/2006/relationships/notesMaster" Target="/ppt/notesMasters/notesMaster1.xml" Id="Re47676ce121846fc" /></Relationships>
</file>

<file path=ppt/notesSlides/_rels/notesSlide3.xml.rels>&#65279;<?xml version="1.0" encoding="utf-8"?><Relationships xmlns="http://schemas.openxmlformats.org/package/2006/relationships"><Relationship Type="http://schemas.openxmlformats.org/officeDocument/2006/relationships/slide" Target="/ppt/slides/slide3.xml" Id="Re950b0ed85564e40" /><Relationship Type="http://schemas.openxmlformats.org/officeDocument/2006/relationships/notesMaster" Target="/ppt/notesMasters/notesMaster1.xml" Id="Red3e99848fb24307" /></Relationships>
</file>

<file path=ppt/notesSlides/_rels/notesSlide4.xml.rels>&#65279;<?xml version="1.0" encoding="utf-8"?><Relationships xmlns="http://schemas.openxmlformats.org/package/2006/relationships"><Relationship Type="http://schemas.openxmlformats.org/officeDocument/2006/relationships/slide" Target="/ppt/slides/slide4.xml" Id="Rd74e8221d81244ac" /><Relationship Type="http://schemas.openxmlformats.org/officeDocument/2006/relationships/notesMaster" Target="/ppt/notesMasters/notesMaster1.xml" Id="Rde1316e71e21418a" /></Relationships>
</file>

<file path=ppt/notesSlides/_rels/notesSlide5.xml.rels>&#65279;<?xml version="1.0" encoding="utf-8"?><Relationships xmlns="http://schemas.openxmlformats.org/package/2006/relationships"><Relationship Type="http://schemas.openxmlformats.org/officeDocument/2006/relationships/slide" Target="/ppt/slides/slide5.xml" Id="R5531351bb0a64d4c" /><Relationship Type="http://schemas.openxmlformats.org/officeDocument/2006/relationships/notesMaster" Target="/ppt/notesMasters/notesMaster1.xml" Id="R007c6fc4a3de4de9" /></Relationships>
</file>

<file path=ppt/notesSlides/_rels/notesSlide6.xml.rels>&#65279;<?xml version="1.0" encoding="utf-8"?><Relationships xmlns="http://schemas.openxmlformats.org/package/2006/relationships"><Relationship Type="http://schemas.openxmlformats.org/officeDocument/2006/relationships/slide" Target="/ppt/slides/slide6.xml" Id="R01ac1104dfea4225" /><Relationship Type="http://schemas.openxmlformats.org/officeDocument/2006/relationships/notesMaster" Target="/ppt/notesMasters/notesMaster1.xml" Id="R700217527a474a01" /></Relationships>
</file>

<file path=ppt/notesSlides/_rels/notesSlide7.xml.rels>&#65279;<?xml version="1.0" encoding="utf-8"?><Relationships xmlns="http://schemas.openxmlformats.org/package/2006/relationships"><Relationship Type="http://schemas.openxmlformats.org/officeDocument/2006/relationships/slide" Target="/ppt/slides/slide7.xml" Id="R6f80d904374d410a" /><Relationship Type="http://schemas.openxmlformats.org/officeDocument/2006/relationships/notesMaster" Target="/ppt/notesMasters/notesMaster1.xml" Id="R18a2afc56dca4b0c" /></Relationships>
</file>

<file path=ppt/notesSlides/_rels/notesSlide8.xml.rels>&#65279;<?xml version="1.0" encoding="utf-8"?><Relationships xmlns="http://schemas.openxmlformats.org/package/2006/relationships"><Relationship Type="http://schemas.openxmlformats.org/officeDocument/2006/relationships/slide" Target="/ppt/slides/slide8.xml" Id="R8a16644eb5d644a9" /><Relationship Type="http://schemas.openxmlformats.org/officeDocument/2006/relationships/notesMaster" Target="/ppt/notesMasters/notesMaster1.xml" Id="Rdeb70709e80742c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imagine leaving a train for a stadium. The arrival and queue remain outdoors. The operator must choose where limited preparation money goes. ShadeShift supports that decision. This is a scenario-planning product, not a medical prediction. Track 3 uses FIFA World Cup 2026 as a case for repeat events.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application screenshot. First buyer hypothesis: a venue or event operator. The $70,000 is selected intervention spend in the demonstration, with a $75,000 cap. This is separate from software pricing. Approximate candidate connectors are not navigation instructions. Colored historical temperature points date to August 7 2020, not the event date. OpenStreetMap basemap attribution remains visible. Sources: https://www.openstreetmap.org/copyright and https://www.arcgis.com/home/item.html?id=d8dd6004e1ab4dccbfb36a5992f480bc . Users can explore without signing in, then use Firebase Authentication with email and password for private plans stored in Cloud Firestore with owner-scoped security rules.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Houston measured data: 654 exact point observations from August 7 2020 afternoon, cleaned within the NRG-area bounding box. Do not extrapolate into unsampled areas. Source https://www.arcgis.com/home/item.html?id=d8dd6004e1ab4dccbfb36a5992f480bc and https://www.h3at.org/2024-campaign/2024-campaign-results . METRO GTFS anchors from official feed August2026IVOMS_20260828 https://api-portal.ridemetro.org/ . The 11-location atlas samples 15:00 local June 1–July 19 2025 and derives NWS shade heat index from temperature and relative humidity using ERA5 0.25 degree grids via Open-Meteo. Source https://open-meteo.com/en/docs/historical-weather-api and https://www.weather.gov/safety/heat-index . Neither weather layer drives the optimizer objective. Approximate connectors require site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Verified deterministic model run: baseline 409,260 direct-sun person-minutes. Starting plan cost $70,000, remaining 311,811.6, reduction 23.810878%. Optimized same cost $70,000, remaining 281,358, avoided 127,902, reduction 31.252016%. Optimizer chose shade at Stadium station, north arrival and Yellow Lot, queue changes at Holly Hall and Kirby, no intervention at Fannin. Feasible search evaluated 2,505 complete candidates in this constrained run. Do not interpret “verified” as field validation. Inputs are planning assumptions. The percentage describes six modeled connectors, not all people or all of Houston. Source: reproducible application model export shadeshift-model-results.json.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Sensitivity holds the optimized portfolio and costs fixed. Effectiveness multiplier applies to added shade and queue-duration reduction: 60% gives 76,741.2 avoided person-minutes or 18.7512%; 80% gives 102,321.6 or 25.0016%; 100% gives 127,902 or 31.2520%. These are deterministic assumption scenarios, not confidence intervals. Water access is separate from direct-sun exposure. Starting plan has capacity for 1,200 refills in the arrival window and community-weighted investment $37,300/$70,000 = 53.2857%. Optimized plan has zero refills and $19,200/$70,000 = 27.4286%. Community weighting uses assumed resident-share weights. It does not measure verified demographics or represent dollars paid directly to residents.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unvalidated price hypotheses, not revenue or contracts. Buyer is venue operations. Pilot scope is one venue and two events. The annual $6,000 license targets repeated planning use; hardware, installation, on-site staff and custom integrations are excluded. We do not claim insurance savings or willingness to pay. Existing tools include ShadeMap for shadow/event planning https://shademap.app/help/ and UrbanFootprint for spatial climate analysis https://urbanfootprint.com/platform/explorer/ . Differentiation hypothesis is an auditable intervention budget-to-plan workflow. Future advantage would come from verified site constraints, actual costs and observed deployment performance, not exclusive ownership of public data. Open-Meteo free service is noncommercial; a commercial launch requires appropriate licensing or self-hosting.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proposed pilot, not a completed deployment or committed partnership. Record a named physical asset owner, storage and maintenance responsibilities, reuse destination and operating schedule. Legacy model uses independent resident demand and selected reuse days, not event attendance multiplied throughout the year. Validate accessibility, egress, installation permission and supplier quotes before deployment. The current app supports analysis and export, but commercial operations still require security, tenant-isolation, deletion/retention, backup and incident-response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a concrete ask: one venue partner for two events, with site access, operator counts, a venue operations contact and an accessibility review. No outreach or partner commitment is implied. The product turns a heat map into a reviewable funded shade plan. Live demonstration: https://shadeshift-city.web.app . Source repository: https://github.com/shi1720/shadeshift . Built with Vite, React, TypeScript, Leaflet and Recharts, hosted on Firebase Hosting with Firebase Authentication and Cloud Firestore. Anonymous judging copy.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6ee2120187244c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cefc94792b34428" /><Relationship Type="http://schemas.openxmlformats.org/officeDocument/2006/relationships/slideLayout" Target="/ppt/slideLayouts/slideLayout1.xml" Id="R0b592e669a0a45b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592e669a0a45b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52f33ca26744a34" /><Relationship Type="http://schemas.openxmlformats.org/officeDocument/2006/relationships/notesSlide" Target="/ppt/notesSlides/notesSlide1.xml" Id="Ra14ef42efa53481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f7cb66497474e41" /><Relationship Type="http://schemas.openxmlformats.org/officeDocument/2006/relationships/image" Target="/ppt/media/image.png" Id="R3a0ee8c44b7d4558" /><Relationship Type="http://schemas.openxmlformats.org/officeDocument/2006/relationships/notesSlide" Target="/ppt/notesSlides/notesSlide2.xml" Id="Re2693bfa63fe4ba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9e25f0a13634565" /><Relationship Type="http://schemas.openxmlformats.org/officeDocument/2006/relationships/notesSlide" Target="/ppt/notesSlides/notesSlide3.xml" Id="R89f0c5304f29466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b96b2cc8b6c4589" /><Relationship Type="http://schemas.openxmlformats.org/officeDocument/2006/relationships/chart" Target="/ppt/slides/charts/chart1.xml" Id="R4696e18119ba4d8e" /><Relationship Type="http://schemas.openxmlformats.org/officeDocument/2006/relationships/notesSlide" Target="/ppt/notesSlides/notesSlide4.xml" Id="R2f9e2a9ea4e7478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5c0e3fbf83349e9" /><Relationship Type="http://schemas.openxmlformats.org/officeDocument/2006/relationships/chart" Target="/ppt/slides/charts/chart2.xml" Id="R1a7b2f65a6be49b7" /><Relationship Type="http://schemas.openxmlformats.org/officeDocument/2006/relationships/notesSlide" Target="/ppt/notesSlides/notesSlide5.xml" Id="R9b6f671512074e4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2aa6d41628c40b2" /><Relationship Type="http://schemas.openxmlformats.org/officeDocument/2006/relationships/notesSlide" Target="/ppt/notesSlides/notesSlide6.xml" Id="R43da5d01841f497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a34a1635e714d8f" /><Relationship Type="http://schemas.openxmlformats.org/officeDocument/2006/relationships/notesSlide" Target="/ppt/notesSlides/notesSlide7.xml" Id="R865df9999a994fb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74669f0c41d4f7f" /><Relationship Type="http://schemas.openxmlformats.org/officeDocument/2006/relationships/notesSlide" Target="/ppt/notesSlides/notesSlide8.xml" Id="R78498531ca004e8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Modeled exposure</c:v>
          </c:tx>
          <c:spPr>
            <a:solidFill xmlns:a="http://schemas.openxmlformats.org/drawingml/2006/main">
              <a:srgbClr val="006C59"/>
            </a:solidFill>
          </c:spPr>
          <c:cat>
            <c:strRef>
              <c:f>'Chart Data'!$A$2:$A$4</c:f>
              <c:strCache>
                <c:ptCount val="3"/>
                <c:pt idx="0">
                  <c:v>Baseline</c:v>
                </c:pt>
                <c:pt idx="1">
                  <c:v>Starting plan</c:v>
                </c:pt>
                <c:pt idx="2">
                  <c:v>Optimized</c:v>
                </c:pt>
              </c:strCache>
            </c:strRef>
          </c:cat>
          <c:val>
            <c:numRef>
              <c:f>'Chart Data'!$B$2:$B$4</c:f>
              <c:numCache>
                <c:formatCode>#,##0</c:formatCode>
                <c:ptCount val="3"/>
                <c:pt idx="0">
                  <c:v>409260</c:v>
                </c:pt>
                <c:pt idx="1">
                  <c:v>311811.6</c:v>
                </c:pt>
                <c:pt idx="2">
                  <c:v>281358</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02E36"/>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7C8C1"/>
            </a:solidFill>
          </a:ln>
        </c:spPr>
        <c:txPr>
          <a:bodyPr xmlns:a="http://schemas.openxmlformats.org/drawingml/2006/main" anchorCtr="1"/>
          <a:lstStyle xmlns:a="http://schemas.openxmlformats.org/drawingml/2006/main"/>
          <a:p xmlns:a="http://schemas.openxmlformats.org/drawingml/2006/main">
            <a:pPr>
              <a:defRPr sz="1650">
                <a:solidFill>
                  <a:srgbClr val="102E36"/>
                </a:solidFill>
                <a:latin typeface="Helvetica Neue"/>
                <a:ea typeface="Helvetica Neue"/>
                <a:cs typeface="Helvetica Neue"/>
              </a:defRPr>
            </a:pPr>
          </a:p>
        </c:txPr>
        <c:crossAx val="48672768"/>
      </c:catAx>
      <c:valAx>
        <c:axId val="48672768"/>
        <c:scaling>
          <c:orientation val="minMax"/>
          <c:max val="480000"/>
          <c:min val="0"/>
        </c:scaling>
        <c:delete val="0"/>
        <c:axPos val="l"/>
        <c:majorGridlines>
          <c:spPr>
            <a:ln xmlns:a="http://schemas.openxmlformats.org/drawingml/2006/main" w="9525">
              <a:solidFill>
                <a:srgbClr val="E1E9E4"/>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4706F"/>
                </a:solidFill>
                <a:latin typeface="Helvetica Neue"/>
                <a:ea typeface="Helvetica Neue"/>
                <a:cs typeface="Helvetica Neue"/>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Modeled exposure</c:v>
          </c:tx>
          <c:spPr>
            <a:solidFill xmlns:a="http://schemas.openxmlformats.org/drawingml/2006/main">
              <a:srgbClr val="006C59"/>
            </a:solidFill>
          </c:spPr>
          <c:cat>
            <c:strRef>
              <c:f>'Chart Data'!$A$2:$A$4</c:f>
              <c:strCache>
                <c:ptCount val="3"/>
                <c:pt idx="0">
                  <c:v>60% effect</c:v>
                </c:pt>
                <c:pt idx="1">
                  <c:v>80% effect</c:v>
                </c:pt>
                <c:pt idx="2">
                  <c:v>100% effect</c:v>
                </c:pt>
              </c:strCache>
            </c:strRef>
          </c:cat>
          <c:val>
            <c:numRef>
              <c:f>'Chart Data'!$B$2:$B$4</c:f>
              <c:numCache>
                <c:formatCode>0.0"%"</c:formatCode>
                <c:ptCount val="3"/>
                <c:pt idx="0">
                  <c:v>18.7512095</c:v>
                </c:pt>
                <c:pt idx="1">
                  <c:v>25.0016127</c:v>
                </c:pt>
                <c:pt idx="2">
                  <c:v>31.2520158</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02E36"/>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7C8C1"/>
            </a:solidFill>
          </a:ln>
        </c:spPr>
        <c:txPr>
          <a:bodyPr xmlns:a="http://schemas.openxmlformats.org/drawingml/2006/main" anchorCtr="1"/>
          <a:lstStyle xmlns:a="http://schemas.openxmlformats.org/drawingml/2006/main"/>
          <a:p xmlns:a="http://schemas.openxmlformats.org/drawingml/2006/main">
            <a:pPr>
              <a:defRPr sz="1650">
                <a:solidFill>
                  <a:srgbClr val="102E36"/>
                </a:solidFill>
                <a:latin typeface="Helvetica Neue"/>
                <a:ea typeface="Helvetica Neue"/>
                <a:cs typeface="Helvetica Neue"/>
              </a:defRPr>
            </a:pPr>
          </a:p>
        </c:txPr>
        <c:crossAx val="48672768"/>
      </c:catAx>
      <c:valAx>
        <c:axId val="48672768"/>
        <c:scaling>
          <c:orientation val="minMax"/>
          <c:max val="40"/>
          <c:min val="0"/>
        </c:scaling>
        <c:delete val="0"/>
        <c:axPos val="l"/>
        <c:majorGridlines>
          <c:spPr>
            <a:ln xmlns:a="http://schemas.openxmlformats.org/drawingml/2006/main" w="9525">
              <a:solidFill>
                <a:srgbClr val="E1E9E4"/>
              </a:solidFill>
            </a:ln>
          </c:spPr>
        </c:majorGridlines>
        <c:numFmt formatCode="0.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4706F"/>
                </a:solidFill>
                <a:latin typeface="Helvetica Neue"/>
                <a:ea typeface="Helvetica Neue"/>
                <a:cs typeface="Helvetica Neue"/>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E3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E83239F-3D77-4EB4-9346-FF3A28A8CA82}"/>
              </a:ext>
            </a:extLst>
          </p:cNvPr>
          <p:cNvSpPr>
            <a:spLocks xmlns:a="http://schemas.openxmlformats.org/drawingml/2006/main" noGrp="1"/>
          </p:cNvSpPr>
          <p:nvPr/>
        </p:nvSpPr>
        <p:spPr>
          <a:xfrm xmlns:a="http://schemas.openxmlformats.org/drawingml/2006/main">
            <a:off x="609600" y="333375"/>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D1F36D"/>
                </a:solidFill>
                <a:latin typeface="Helvetica Neue"/>
                <a:ea typeface="Helvetica Neue"/>
                <a:cs typeface="Helvetica Neue"/>
              </a:defRPr>
            </a:pPr>
            <a:r>
              <a:rPr sz="1275" b="1">
                <a:solidFill>
                  <a:srgbClr val="D1F36D"/>
                </a:solidFill>
                <a:latin typeface="Helvetica Neue"/>
                <a:ea typeface="Helvetica Neue"/>
                <a:cs typeface="Helvetica Neue"/>
              </a:rPr>
              <a:t>SHADE SHIFT   /   THE PROBLEM</a:t>
            </a:r>
          </a:p>
        </p:txBody>
      </p:sp>
      <p:sp>
        <p:nvSpPr>
          <p:cNvPr id="2" name="">
            <a:extLst xmlns:a="http://schemas.openxmlformats.org/drawingml/2006/main">
              <a:ext uri="{FF2B5EF4-FFF2-40B4-BE49-F238E27FC236}">
                <a16:creationId xmlns:a16="http://schemas.microsoft.com/office/drawing/2014/main" id="{CAD06308-71B3-4585-9DDB-DE26AA4198FE}"/>
              </a:ext>
            </a:extLst>
          </p:cNvPr>
          <p:cNvSpPr>
            <a:spLocks xmlns:a="http://schemas.openxmlformats.org/drawingml/2006/main" noGrp="1"/>
          </p:cNvSpPr>
          <p:nvPr/>
        </p:nvSpPr>
        <p:spPr>
          <a:xfrm xmlns:a="http://schemas.openxmlformats.org/drawingml/2006/main">
            <a:off x="609600" y="6457950"/>
            <a:ext cx="1095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B7C8C1"/>
                </a:solidFill>
                <a:latin typeface="Helvetica Neue"/>
                <a:ea typeface="Helvetica Neue"/>
                <a:cs typeface="Helvetica Neue"/>
              </a:defRPr>
            </a:pPr>
            <a:r>
              <a:rPr sz="975" b="0">
                <a:solidFill>
                  <a:srgbClr val="B7C8C1"/>
                </a:solidFill>
                <a:latin typeface="Helvetica Neue"/>
                <a:ea typeface="Helvetica Neue"/>
                <a:cs typeface="Helvetica Neue"/>
              </a:rPr>
              <a:t>01   /   RICE URBAN SUSTAINABILITY HACKATHON · TRACK 3</a:t>
            </a:r>
          </a:p>
        </p:txBody>
      </p:sp>
      <p:sp>
        <p:nvSpPr>
          <p:cNvPr id="3" name="">
            <a:extLst xmlns:a="http://schemas.openxmlformats.org/drawingml/2006/main">
              <a:ext uri="{FF2B5EF4-FFF2-40B4-BE49-F238E27FC236}">
                <a16:creationId xmlns:a16="http://schemas.microsoft.com/office/drawing/2014/main" id="{2F01B93C-632B-4939-BD26-CF43B613B099}"/>
              </a:ext>
            </a:extLst>
          </p:cNvPr>
          <p:cNvSpPr>
            <a:spLocks xmlns:a="http://schemas.openxmlformats.org/drawingml/2006/main" noGrp="1"/>
          </p:cNvSpPr>
          <p:nvPr/>
        </p:nvSpPr>
        <p:spPr>
          <a:xfrm xmlns:a="http://schemas.openxmlformats.org/drawingml/2006/main">
            <a:off x="609600" y="1171575"/>
            <a:ext cx="1057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900" b="1">
                <a:solidFill>
                  <a:srgbClr val="FFFFFF"/>
                </a:solidFill>
                <a:latin typeface="Helvetica Neue"/>
                <a:ea typeface="Helvetica Neue"/>
                <a:cs typeface="Helvetica Neue"/>
              </a:defRPr>
            </a:pPr>
            <a:r>
              <a:rPr sz="6900" b="1">
                <a:solidFill>
                  <a:srgbClr val="FFFFFF"/>
                </a:solidFill>
                <a:latin typeface="Helvetica Neue"/>
                <a:ea typeface="Helvetica Neue"/>
                <a:cs typeface="Helvetica Neue"/>
              </a:rPr>
              <a:t>ShadeShift</a:t>
            </a:r>
          </a:p>
        </p:txBody>
      </p:sp>
      <p:sp>
        <p:nvSpPr>
          <p:cNvPr id="4" name="">
            <a:extLst xmlns:a="http://schemas.openxmlformats.org/drawingml/2006/main">
              <a:ext uri="{FF2B5EF4-FFF2-40B4-BE49-F238E27FC236}">
                <a16:creationId xmlns:a16="http://schemas.microsoft.com/office/drawing/2014/main" id="{086467F4-7C34-4BC6-867F-3EFBE696549F}"/>
              </a:ext>
            </a:extLst>
          </p:cNvPr>
          <p:cNvSpPr>
            <a:spLocks xmlns:a="http://schemas.openxmlformats.org/drawingml/2006/main" noGrp="1"/>
          </p:cNvSpPr>
          <p:nvPr/>
        </p:nvSpPr>
        <p:spPr>
          <a:xfrm xmlns:a="http://schemas.openxmlformats.org/drawingml/2006/main">
            <a:off x="609600" y="2552700"/>
            <a:ext cx="103822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D1F36D"/>
                </a:solidFill>
                <a:latin typeface="Helvetica Neue"/>
                <a:ea typeface="Helvetica Neue"/>
                <a:cs typeface="Helvetica Neue"/>
              </a:defRPr>
            </a:pPr>
            <a:r>
              <a:rPr sz="3825" b="1">
                <a:solidFill>
                  <a:srgbClr val="D1F36D"/>
                </a:solidFill>
                <a:latin typeface="Helvetica Neue"/>
                <a:ea typeface="Helvetica Neue"/>
                <a:cs typeface="Helvetica Neue"/>
              </a:rPr>
              <a:t>The ticket gets you a seat.</a:t>
            </a:r>
          </a:p>
          <a:p xmlns:a="http://schemas.openxmlformats.org/drawingml/2006/main">
            <a:pPr>
              <a:defRPr sz="3825" b="1">
                <a:solidFill>
                  <a:srgbClr val="D1F36D"/>
                </a:solidFill>
                <a:latin typeface="Helvetica Neue"/>
                <a:ea typeface="Helvetica Neue"/>
                <a:cs typeface="Helvetica Neue"/>
              </a:defRPr>
            </a:pPr>
            <a:r>
              <a:rPr sz="3825" b="1">
                <a:solidFill>
                  <a:srgbClr val="D1F36D"/>
                </a:solidFill>
                <a:latin typeface="Helvetica Neue"/>
                <a:ea typeface="Helvetica Neue"/>
                <a:cs typeface="Helvetica Neue"/>
              </a:rPr>
              <a:t>It does not get you shade.</a:t>
            </a:r>
          </a:p>
        </p:txBody>
      </p:sp>
      <p:sp>
        <p:nvSpPr>
          <p:cNvPr id="5" name="">
            <a:extLst xmlns:a="http://schemas.openxmlformats.org/drawingml/2006/main">
              <a:ext uri="{FF2B5EF4-FFF2-40B4-BE49-F238E27FC236}">
                <a16:creationId xmlns:a16="http://schemas.microsoft.com/office/drawing/2014/main" id="{E88E326A-9A30-436B-B3FC-AD16E116A949}"/>
              </a:ext>
            </a:extLst>
          </p:cNvPr>
          <p:cNvSpPr>
            <a:spLocks xmlns:a="http://schemas.openxmlformats.org/drawingml/2006/main" noGrp="1"/>
          </p:cNvSpPr>
          <p:nvPr/>
        </p:nvSpPr>
        <p:spPr>
          <a:xfrm xmlns:a="http://schemas.openxmlformats.org/drawingml/2006/main">
            <a:off x="609600" y="4572000"/>
            <a:ext cx="10001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A budget and deployment planner for the outdoor</a:t>
            </a:r>
          </a:p>
          <a:p xmlns:a="http://schemas.openxmlformats.org/drawingml/2006/main">
            <a:pPr>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walks and queues around major events.</a:t>
            </a:r>
          </a:p>
        </p:txBody>
      </p:sp>
    </p:spTree>
    <p:extLst>
      <p:ext uri="{BB962C8B-B14F-4D97-AF65-F5344CB8AC3E}">
        <p14:creationId xmlns:p14="http://schemas.microsoft.com/office/powerpoint/2010/main" val="101143048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22E835D-1D9D-4AA9-BD93-4818C111E4D4}"/>
              </a:ext>
            </a:extLst>
          </p:cNvPr>
          <p:cNvSpPr>
            <a:spLocks xmlns:a="http://schemas.openxmlformats.org/drawingml/2006/main" noGrp="1"/>
          </p:cNvSpPr>
          <p:nvPr/>
        </p:nvSpPr>
        <p:spPr>
          <a:xfrm xmlns:a="http://schemas.openxmlformats.org/drawingml/2006/main">
            <a:off x="609600" y="333375"/>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06C59"/>
                </a:solidFill>
                <a:latin typeface="Helvetica Neue"/>
                <a:ea typeface="Helvetica Neue"/>
                <a:cs typeface="Helvetica Neue"/>
              </a:defRPr>
            </a:pPr>
            <a:r>
              <a:rPr sz="1275" b="1">
                <a:solidFill>
                  <a:srgbClr val="006C59"/>
                </a:solidFill>
                <a:latin typeface="Helvetica Neue"/>
                <a:ea typeface="Helvetica Neue"/>
                <a:cs typeface="Helvetica Neue"/>
              </a:rPr>
              <a:t>SHADE SHIFT   /   THE BUYER</a:t>
            </a:r>
          </a:p>
        </p:txBody>
      </p:sp>
      <p:sp>
        <p:nvSpPr>
          <p:cNvPr id="2" name="">
            <a:extLst xmlns:a="http://schemas.openxmlformats.org/drawingml/2006/main">
              <a:ext uri="{FF2B5EF4-FFF2-40B4-BE49-F238E27FC236}">
                <a16:creationId xmlns:a16="http://schemas.microsoft.com/office/drawing/2014/main" id="{B8E5EFB9-29E5-489F-9DC8-34A1B1DA36BD}"/>
              </a:ext>
            </a:extLst>
          </p:cNvPr>
          <p:cNvSpPr>
            <a:spLocks xmlns:a="http://schemas.openxmlformats.org/drawingml/2006/main" noGrp="1"/>
          </p:cNvSpPr>
          <p:nvPr/>
        </p:nvSpPr>
        <p:spPr>
          <a:xfrm xmlns:a="http://schemas.openxmlformats.org/drawingml/2006/main">
            <a:off x="609600" y="914400"/>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102E36"/>
                </a:solidFill>
                <a:latin typeface="Helvetica Neue"/>
                <a:ea typeface="Helvetica Neue"/>
                <a:cs typeface="Helvetica Neue"/>
              </a:defRPr>
            </a:pPr>
            <a:r>
              <a:rPr sz="3525" b="1">
                <a:solidFill>
                  <a:srgbClr val="102E36"/>
                </a:solidFill>
                <a:latin typeface="Helvetica Neue"/>
                <a:ea typeface="Helvetica Neue"/>
                <a:cs typeface="Helvetica Neue"/>
              </a:rPr>
              <a:t>Venue operations has a recurring decision</a:t>
            </a:r>
          </a:p>
        </p:txBody>
      </p:sp>
      <p:sp>
        <p:nvSpPr>
          <p:cNvPr id="3" name="">
            <a:extLst xmlns:a="http://schemas.openxmlformats.org/drawingml/2006/main">
              <a:ext uri="{FF2B5EF4-FFF2-40B4-BE49-F238E27FC236}">
                <a16:creationId xmlns:a16="http://schemas.microsoft.com/office/drawing/2014/main" id="{B38B0152-7776-4F00-9C5C-8F23CCD299D5}"/>
              </a:ext>
            </a:extLst>
          </p:cNvPr>
          <p:cNvSpPr>
            <a:spLocks xmlns:a="http://schemas.openxmlformats.org/drawingml/2006/main" noGrp="1"/>
          </p:cNvSpPr>
          <p:nvPr/>
        </p:nvSpPr>
        <p:spPr>
          <a:xfrm xmlns:a="http://schemas.openxmlformats.org/drawingml/2006/main">
            <a:off x="609600" y="6457950"/>
            <a:ext cx="1095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4706F"/>
                </a:solidFill>
                <a:latin typeface="Helvetica Neue"/>
                <a:ea typeface="Helvetica Neue"/>
                <a:cs typeface="Helvetica Neue"/>
              </a:defRPr>
            </a:pPr>
            <a:r>
              <a:rPr sz="975" b="0">
                <a:solidFill>
                  <a:srgbClr val="54706F"/>
                </a:solidFill>
                <a:latin typeface="Helvetica Neue"/>
                <a:ea typeface="Helvetica Neue"/>
                <a:cs typeface="Helvetica Neue"/>
              </a:rPr>
              <a:t>02   /   RICE URBAN SUSTAINABILITY HACKATHON · TRACK 3</a:t>
            </a:r>
          </a:p>
        </p:txBody>
      </p:sp>
      <p:sp>
        <p:nvSpPr>
          <p:cNvPr id="4" name="">
            <a:extLst xmlns:a="http://schemas.openxmlformats.org/drawingml/2006/main">
              <a:ext uri="{FF2B5EF4-FFF2-40B4-BE49-F238E27FC236}">
                <a16:creationId xmlns:a16="http://schemas.microsoft.com/office/drawing/2014/main" id="{ED391101-01B3-4B83-828B-08F8B39F5663}"/>
              </a:ext>
            </a:extLst>
          </p:cNvPr>
          <p:cNvSpPr>
            <a:spLocks xmlns:a="http://schemas.openxmlformats.org/drawingml/2006/main" noGrp="1"/>
          </p:cNvSpPr>
          <p:nvPr/>
        </p:nvSpPr>
        <p:spPr>
          <a:xfrm xmlns:a="http://schemas.openxmlformats.org/drawingml/2006/main">
            <a:off x="609600" y="2133600"/>
            <a:ext cx="51435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006C59"/>
                </a:solidFill>
                <a:latin typeface="Helvetica Neue"/>
                <a:ea typeface="Helvetica Neue"/>
                <a:cs typeface="Helvetica Neue"/>
              </a:defRPr>
            </a:pPr>
            <a:r>
              <a:rPr sz="3450" b="1">
                <a:solidFill>
                  <a:srgbClr val="006C59"/>
                </a:solidFill>
                <a:latin typeface="Helvetica Neue"/>
                <a:ea typeface="Helvetica Neue"/>
                <a:cs typeface="Helvetica Neue"/>
              </a:rPr>
              <a:t>Where should the next</a:t>
            </a:r>
          </a:p>
          <a:p xmlns:a="http://schemas.openxmlformats.org/drawingml/2006/main">
            <a:pPr>
              <a:defRPr sz="3450" b="1">
                <a:solidFill>
                  <a:srgbClr val="006C59"/>
                </a:solidFill>
                <a:latin typeface="Helvetica Neue"/>
                <a:ea typeface="Helvetica Neue"/>
                <a:cs typeface="Helvetica Neue"/>
              </a:defRPr>
            </a:pPr>
            <a:r>
              <a:rPr sz="3450" b="1">
                <a:solidFill>
                  <a:srgbClr val="006C59"/>
                </a:solidFill>
                <a:latin typeface="Helvetica Neue"/>
                <a:ea typeface="Helvetica Neue"/>
                <a:cs typeface="Helvetica Neue"/>
              </a:rPr>
              <a:t>$70,000 go?</a:t>
            </a:r>
          </a:p>
        </p:txBody>
      </p:sp>
      <p:sp>
        <p:nvSpPr>
          <p:cNvPr id="5" name="">
            <a:extLst xmlns:a="http://schemas.openxmlformats.org/drawingml/2006/main">
              <a:ext uri="{FF2B5EF4-FFF2-40B4-BE49-F238E27FC236}">
                <a16:creationId xmlns:a16="http://schemas.microsoft.com/office/drawing/2014/main" id="{A2B1F1FE-0CA2-4174-9B28-E94FB87D7A29}"/>
              </a:ext>
            </a:extLst>
          </p:cNvPr>
          <p:cNvSpPr>
            <a:spLocks xmlns:a="http://schemas.openxmlformats.org/drawingml/2006/main" noGrp="1"/>
          </p:cNvSpPr>
          <p:nvPr/>
        </p:nvSpPr>
        <p:spPr>
          <a:xfrm xmlns:a="http://schemas.openxmlformats.org/drawingml/2006/main">
            <a:off x="609600" y="3762375"/>
            <a:ext cx="5048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02E36"/>
                </a:solidFill>
                <a:latin typeface="Helvetica Neue"/>
                <a:ea typeface="Helvetica Neue"/>
                <a:cs typeface="Helvetica Neue"/>
              </a:defRPr>
            </a:pPr>
            <a:r>
              <a:rPr sz="2175" b="0">
                <a:solidFill>
                  <a:srgbClr val="102E36"/>
                </a:solidFill>
                <a:latin typeface="Helvetica Neue"/>
                <a:ea typeface="Helvetica Neue"/>
                <a:cs typeface="Helvetica Neue"/>
              </a:rPr>
              <a:t>Allocate shade, queue changes</a:t>
            </a:r>
          </a:p>
          <a:p xmlns:a="http://schemas.openxmlformats.org/drawingml/2006/main">
            <a:pPr>
              <a:defRPr sz="2175" b="0">
                <a:solidFill>
                  <a:srgbClr val="102E36"/>
                </a:solidFill>
                <a:latin typeface="Helvetica Neue"/>
                <a:ea typeface="Helvetica Neue"/>
                <a:cs typeface="Helvetica Neue"/>
              </a:defRPr>
            </a:pPr>
            <a:r>
              <a:rPr sz="2175" b="0">
                <a:solidFill>
                  <a:srgbClr val="102E36"/>
                </a:solidFill>
                <a:latin typeface="Helvetica Neue"/>
                <a:ea typeface="Helvetica Neue"/>
                <a:cs typeface="Helvetica Neue"/>
              </a:rPr>
              <a:t>and refill access before each event.</a:t>
            </a:r>
          </a:p>
        </p:txBody>
      </p:sp>
      <p:sp>
        <p:nvSpPr>
          <p:cNvPr id="6" name="">
            <a:extLst xmlns:a="http://schemas.openxmlformats.org/drawingml/2006/main">
              <a:ext uri="{FF2B5EF4-FFF2-40B4-BE49-F238E27FC236}">
                <a16:creationId xmlns:a16="http://schemas.microsoft.com/office/drawing/2014/main" id="{67F228E5-F8AB-45C0-9C47-89E38680B75F}"/>
              </a:ext>
            </a:extLst>
          </p:cNvPr>
          <p:cNvSpPr>
            <a:spLocks xmlns:a="http://schemas.openxmlformats.org/drawingml/2006/main" noGrp="1"/>
          </p:cNvSpPr>
          <p:nvPr/>
        </p:nvSpPr>
        <p:spPr>
          <a:xfrm xmlns:a="http://schemas.openxmlformats.org/drawingml/2006/main">
            <a:off x="609600" y="5048250"/>
            <a:ext cx="50673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4706F"/>
                </a:solidFill>
                <a:latin typeface="Helvetica Neue"/>
                <a:ea typeface="Helvetica Neue"/>
                <a:cs typeface="Helvetica Neue"/>
              </a:defRPr>
            </a:pPr>
            <a:r>
              <a:rPr sz="2025" b="0">
                <a:solidFill>
                  <a:srgbClr val="54706F"/>
                </a:solidFill>
                <a:latin typeface="Helvetica Neue"/>
                <a:ea typeface="Helvetica Neue"/>
                <a:cs typeface="Helvetica Neue"/>
              </a:rPr>
              <a:t>Compare allocations. Save privately.</a:t>
            </a:r>
          </a:p>
          <a:p xmlns:a="http://schemas.openxmlformats.org/drawingml/2006/main">
            <a:pPr>
              <a:defRPr sz="2025" b="0">
                <a:solidFill>
                  <a:srgbClr val="54706F"/>
                </a:solidFill>
                <a:latin typeface="Helvetica Neue"/>
                <a:ea typeface="Helvetica Neue"/>
                <a:cs typeface="Helvetica Neue"/>
              </a:defRPr>
            </a:pPr>
            <a:r>
              <a:rPr sz="2025" b="0">
                <a:solidFill>
                  <a:srgbClr val="54706F"/>
                </a:solidFill>
                <a:latin typeface="Helvetica Neue"/>
                <a:ea typeface="Helvetica Neue"/>
                <a:cs typeface="Helvetica Neue"/>
              </a:rPr>
              <a:t>Export a plan for operator review.</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a0ee8c44b7d4558"/>
          <a:srcRect xmlns:a="http://schemas.openxmlformats.org/drawingml/2006/main" l="0" t="10406" r="0" b="10406"/>
          <a:stretch xmlns:a="http://schemas.openxmlformats.org/drawingml/2006/main">
            <a:fillRect l="0" t="0" r="0" b="0"/>
          </a:stretch>
        </p:blipFill>
        <p:spPr>
          <a:xfrm xmlns:a="http://schemas.openxmlformats.org/drawingml/2006/main">
            <a:off x="6096000" y="2114550"/>
            <a:ext cx="5429250" cy="4276725"/>
          </a:xfrm>
          <a:prstGeom xmlns:a="http://schemas.openxmlformats.org/drawingml/2006/main" prst="rect">
            <a:avLst/>
          </a:prstGeom>
        </p:spPr>
      </p:pic>
    </p:spTree>
    <p:extLst>
      <p:ext uri="{BB962C8B-B14F-4D97-AF65-F5344CB8AC3E}">
        <p14:creationId xmlns:p14="http://schemas.microsoft.com/office/powerpoint/2010/main" val="116633107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2A28C45-6A8B-49D6-BB7F-A384D6D0D03E}"/>
              </a:ext>
            </a:extLst>
          </p:cNvPr>
          <p:cNvSpPr>
            <a:spLocks xmlns:a="http://schemas.openxmlformats.org/drawingml/2006/main" noGrp="1"/>
          </p:cNvSpPr>
          <p:nvPr/>
        </p:nvSpPr>
        <p:spPr>
          <a:xfrm xmlns:a="http://schemas.openxmlformats.org/drawingml/2006/main">
            <a:off x="609600" y="333375"/>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06C59"/>
                </a:solidFill>
                <a:latin typeface="Helvetica Neue"/>
                <a:ea typeface="Helvetica Neue"/>
                <a:cs typeface="Helvetica Neue"/>
              </a:defRPr>
            </a:pPr>
            <a:r>
              <a:rPr sz="1275" b="1">
                <a:solidFill>
                  <a:srgbClr val="006C59"/>
                </a:solidFill>
                <a:latin typeface="Helvetica Neue"/>
                <a:ea typeface="Helvetica Neue"/>
                <a:cs typeface="Helvetica Neue"/>
              </a:rPr>
              <a:t>SHADE SHIFT   /   THE EVIDENCE</a:t>
            </a:r>
          </a:p>
        </p:txBody>
      </p:sp>
      <p:sp>
        <p:nvSpPr>
          <p:cNvPr id="2" name="">
            <a:extLst xmlns:a="http://schemas.openxmlformats.org/drawingml/2006/main">
              <a:ext uri="{FF2B5EF4-FFF2-40B4-BE49-F238E27FC236}">
                <a16:creationId xmlns:a16="http://schemas.microsoft.com/office/drawing/2014/main" id="{1248D6C5-1F7A-48C8-8C7F-46B810A51D3D}"/>
              </a:ext>
            </a:extLst>
          </p:cNvPr>
          <p:cNvSpPr>
            <a:spLocks xmlns:a="http://schemas.openxmlformats.org/drawingml/2006/main" noGrp="1"/>
          </p:cNvSpPr>
          <p:nvPr/>
        </p:nvSpPr>
        <p:spPr>
          <a:xfrm xmlns:a="http://schemas.openxmlformats.org/drawingml/2006/main">
            <a:off x="609600" y="914400"/>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102E36"/>
                </a:solidFill>
                <a:latin typeface="Helvetica Neue"/>
                <a:ea typeface="Helvetica Neue"/>
                <a:cs typeface="Helvetica Neue"/>
              </a:defRPr>
            </a:pPr>
            <a:r>
              <a:rPr sz="3525" b="1">
                <a:solidFill>
                  <a:srgbClr val="102E36"/>
                </a:solidFill>
                <a:latin typeface="Helvetica Neue"/>
                <a:ea typeface="Helvetica Neue"/>
                <a:cs typeface="Helvetica Neue"/>
              </a:rPr>
              <a:t>Measured context. Visible assumptions.</a:t>
            </a:r>
          </a:p>
        </p:txBody>
      </p:sp>
      <p:sp>
        <p:nvSpPr>
          <p:cNvPr id="3" name="">
            <a:extLst xmlns:a="http://schemas.openxmlformats.org/drawingml/2006/main">
              <a:ext uri="{FF2B5EF4-FFF2-40B4-BE49-F238E27FC236}">
                <a16:creationId xmlns:a16="http://schemas.microsoft.com/office/drawing/2014/main" id="{89922643-AB72-47B4-A786-C30C5F3567DF}"/>
              </a:ext>
            </a:extLst>
          </p:cNvPr>
          <p:cNvSpPr>
            <a:spLocks xmlns:a="http://schemas.openxmlformats.org/drawingml/2006/main" noGrp="1"/>
          </p:cNvSpPr>
          <p:nvPr/>
        </p:nvSpPr>
        <p:spPr>
          <a:xfrm xmlns:a="http://schemas.openxmlformats.org/drawingml/2006/main">
            <a:off x="609600" y="6457950"/>
            <a:ext cx="1095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4706F"/>
                </a:solidFill>
                <a:latin typeface="Helvetica Neue"/>
                <a:ea typeface="Helvetica Neue"/>
                <a:cs typeface="Helvetica Neue"/>
              </a:defRPr>
            </a:pPr>
            <a:r>
              <a:rPr sz="975" b="0">
                <a:solidFill>
                  <a:srgbClr val="54706F"/>
                </a:solidFill>
                <a:latin typeface="Helvetica Neue"/>
                <a:ea typeface="Helvetica Neue"/>
                <a:cs typeface="Helvetica Neue"/>
              </a:rPr>
              <a:t>03   /   RICE URBAN SUSTAINABILITY HACKATHON · TRACK 3</a:t>
            </a:r>
          </a:p>
        </p:txBody>
      </p:sp>
      <p:sp>
        <p:nvSpPr>
          <p:cNvPr id="4" name="">
            <a:extLst xmlns:a="http://schemas.openxmlformats.org/drawingml/2006/main">
              <a:ext uri="{FF2B5EF4-FFF2-40B4-BE49-F238E27FC236}">
                <a16:creationId xmlns:a16="http://schemas.microsoft.com/office/drawing/2014/main" id="{7BA6844F-4C80-4A3F-9FA5-2A7BB4D57291}"/>
              </a:ext>
            </a:extLst>
          </p:cNvPr>
          <p:cNvSpPr>
            <a:spLocks xmlns:a="http://schemas.openxmlformats.org/drawingml/2006/main" noGrp="1"/>
          </p:cNvSpPr>
          <p:nvPr/>
        </p:nvSpPr>
        <p:spPr>
          <a:xfrm xmlns:a="http://schemas.openxmlformats.org/drawingml/2006/main">
            <a:off x="609600" y="2057400"/>
            <a:ext cx="4095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006C59"/>
                </a:solidFill>
                <a:latin typeface="Helvetica Neue"/>
                <a:ea typeface="Helvetica Neue"/>
                <a:cs typeface="Helvetica Neue"/>
              </a:defRPr>
            </a:pPr>
            <a:r>
              <a:rPr sz="6600" b="1">
                <a:solidFill>
                  <a:srgbClr val="006C59"/>
                </a:solidFill>
                <a:latin typeface="Helvetica Neue"/>
                <a:ea typeface="Helvetica Neue"/>
                <a:cs typeface="Helvetica Neue"/>
              </a:rPr>
              <a:t>654</a:t>
            </a:r>
          </a:p>
        </p:txBody>
      </p:sp>
      <p:sp>
        <p:nvSpPr>
          <p:cNvPr id="5" name="">
            <a:extLst xmlns:a="http://schemas.openxmlformats.org/drawingml/2006/main">
              <a:ext uri="{FF2B5EF4-FFF2-40B4-BE49-F238E27FC236}">
                <a16:creationId xmlns:a16="http://schemas.microsoft.com/office/drawing/2014/main" id="{29F73C23-477A-4578-9CA6-E71500733031}"/>
              </a:ext>
            </a:extLst>
          </p:cNvPr>
          <p:cNvSpPr>
            <a:spLocks xmlns:a="http://schemas.openxmlformats.org/drawingml/2006/main" noGrp="1"/>
          </p:cNvSpPr>
          <p:nvPr/>
        </p:nvSpPr>
        <p:spPr>
          <a:xfrm xmlns:a="http://schemas.openxmlformats.org/drawingml/2006/main">
            <a:off x="609600" y="3228975"/>
            <a:ext cx="4810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02E36"/>
                </a:solidFill>
                <a:latin typeface="Helvetica Neue"/>
                <a:ea typeface="Helvetica Neue"/>
                <a:cs typeface="Helvetica Neue"/>
              </a:defRPr>
            </a:pPr>
            <a:r>
              <a:rPr sz="2100" b="1">
                <a:solidFill>
                  <a:srgbClr val="102E36"/>
                </a:solidFill>
                <a:latin typeface="Helvetica Neue"/>
                <a:ea typeface="Helvetica Neue"/>
                <a:cs typeface="Helvetica Neue"/>
              </a:rPr>
              <a:t>Houston temperature observations</a:t>
            </a:r>
          </a:p>
        </p:txBody>
      </p:sp>
      <p:sp>
        <p:nvSpPr>
          <p:cNvPr id="6" name="">
            <a:extLst xmlns:a="http://schemas.openxmlformats.org/drawingml/2006/main">
              <a:ext uri="{FF2B5EF4-FFF2-40B4-BE49-F238E27FC236}">
                <a16:creationId xmlns:a16="http://schemas.microsoft.com/office/drawing/2014/main" id="{837862F3-9DA0-4347-A9DF-F723653D02D6}"/>
              </a:ext>
            </a:extLst>
          </p:cNvPr>
          <p:cNvSpPr>
            <a:spLocks xmlns:a="http://schemas.openxmlformats.org/drawingml/2006/main" noGrp="1"/>
          </p:cNvSpPr>
          <p:nvPr/>
        </p:nvSpPr>
        <p:spPr>
          <a:xfrm xmlns:a="http://schemas.openxmlformats.org/drawingml/2006/main">
            <a:off x="609600" y="3895725"/>
            <a:ext cx="49339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4706F"/>
                </a:solidFill>
                <a:latin typeface="Helvetica Neue"/>
                <a:ea typeface="Helvetica Neue"/>
                <a:cs typeface="Helvetica Neue"/>
              </a:defRPr>
            </a:pPr>
            <a:r>
              <a:rPr sz="1875" b="0">
                <a:solidFill>
                  <a:srgbClr val="54706F"/>
                </a:solidFill>
                <a:latin typeface="Helvetica Neue"/>
                <a:ea typeface="Helvetica Neue"/>
                <a:cs typeface="Helvetica Neue"/>
              </a:rPr>
              <a:t>7 August 2020, 3–4 pm</a:t>
            </a:r>
          </a:p>
          <a:p xmlns:a="http://schemas.openxmlformats.org/drawingml/2006/main">
            <a:pPr>
              <a:defRPr sz="1875" b="0">
                <a:solidFill>
                  <a:srgbClr val="54706F"/>
                </a:solidFill>
                <a:latin typeface="Helvetica Neue"/>
                <a:ea typeface="Helvetica Neue"/>
                <a:cs typeface="Helvetica Neue"/>
              </a:defRPr>
            </a:pPr>
            <a:r>
              <a:rPr sz="1875" b="0">
                <a:solidFill>
                  <a:srgbClr val="54706F"/>
                </a:solidFill>
                <a:latin typeface="Helvetica Neue"/>
                <a:ea typeface="Helvetica Neue"/>
                <a:cs typeface="Helvetica Neue"/>
              </a:rPr>
              <a:t>H3AT / CAPA / HARC mobile sensors</a:t>
            </a:r>
          </a:p>
          <a:p xmlns:a="http://schemas.openxmlformats.org/drawingml/2006/main">
            <a:pPr>
              <a:defRPr sz="1875" b="0">
                <a:solidFill>
                  <a:srgbClr val="54706F"/>
                </a:solidFill>
                <a:latin typeface="Helvetica Neue"/>
                <a:ea typeface="Helvetica Neue"/>
                <a:cs typeface="Helvetica Neue"/>
              </a:defRPr>
            </a:pPr>
            <a:r>
              <a:rPr sz="1875" b="0">
                <a:solidFill>
                  <a:srgbClr val="54706F"/>
                </a:solidFill>
                <a:latin typeface="Helvetica Neue"/>
                <a:ea typeface="Helvetica Neue"/>
                <a:cs typeface="Helvetica Neue"/>
              </a:rPr>
              <a:t>Coverage is partial around the venue.</a:t>
            </a:r>
          </a:p>
        </p:txBody>
      </p:sp>
      <p:sp>
        <p:nvSpPr>
          <p:cNvPr id="7" name="">
            <a:extLst xmlns:a="http://schemas.openxmlformats.org/drawingml/2006/main">
              <a:ext uri="{FF2B5EF4-FFF2-40B4-BE49-F238E27FC236}">
                <a16:creationId xmlns:a16="http://schemas.microsoft.com/office/drawing/2014/main" id="{8669CEA3-3494-45A5-B3AA-9A7F2EDFC172}"/>
              </a:ext>
            </a:extLst>
          </p:cNvPr>
          <p:cNvSpPr>
            <a:spLocks xmlns:a="http://schemas.openxmlformats.org/drawingml/2006/main" noGrp="1"/>
          </p:cNvSpPr>
          <p:nvPr/>
        </p:nvSpPr>
        <p:spPr>
          <a:xfrm xmlns:a="http://schemas.openxmlformats.org/drawingml/2006/main">
            <a:off x="6724650" y="2057400"/>
            <a:ext cx="4238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006C59"/>
                </a:solidFill>
                <a:latin typeface="Helvetica Neue"/>
                <a:ea typeface="Helvetica Neue"/>
                <a:cs typeface="Helvetica Neue"/>
              </a:defRPr>
            </a:pPr>
            <a:r>
              <a:rPr sz="6600" b="1">
                <a:solidFill>
                  <a:srgbClr val="006C59"/>
                </a:solidFill>
                <a:latin typeface="Helvetica Neue"/>
                <a:ea typeface="Helvetica Neue"/>
                <a:cs typeface="Helvetica Neue"/>
              </a:rPr>
              <a:t>11</a:t>
            </a:r>
          </a:p>
        </p:txBody>
      </p:sp>
      <p:sp>
        <p:nvSpPr>
          <p:cNvPr id="8" name="">
            <a:extLst xmlns:a="http://schemas.openxmlformats.org/drawingml/2006/main">
              <a:ext uri="{FF2B5EF4-FFF2-40B4-BE49-F238E27FC236}">
                <a16:creationId xmlns:a16="http://schemas.microsoft.com/office/drawing/2014/main" id="{8999511F-C3D6-48B4-B178-397EB152965E}"/>
              </a:ext>
            </a:extLst>
          </p:cNvPr>
          <p:cNvSpPr>
            <a:spLocks xmlns:a="http://schemas.openxmlformats.org/drawingml/2006/main" noGrp="1"/>
          </p:cNvSpPr>
          <p:nvPr/>
        </p:nvSpPr>
        <p:spPr>
          <a:xfrm xmlns:a="http://schemas.openxmlformats.org/drawingml/2006/main">
            <a:off x="6724650" y="3228975"/>
            <a:ext cx="4857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02E36"/>
                </a:solidFill>
                <a:latin typeface="Helvetica Neue"/>
                <a:ea typeface="Helvetica Neue"/>
                <a:cs typeface="Helvetica Neue"/>
              </a:defRPr>
            </a:pPr>
            <a:r>
              <a:rPr sz="2025" b="1">
                <a:solidFill>
                  <a:srgbClr val="102E36"/>
                </a:solidFill>
                <a:latin typeface="Helvetica Neue"/>
                <a:ea typeface="Helvetica Neue"/>
                <a:cs typeface="Helvetica Neue"/>
              </a:rPr>
              <a:t>U.S. host-location weather benchmarks</a:t>
            </a:r>
          </a:p>
        </p:txBody>
      </p:sp>
      <p:sp>
        <p:nvSpPr>
          <p:cNvPr id="9" name="">
            <a:extLst xmlns:a="http://schemas.openxmlformats.org/drawingml/2006/main">
              <a:ext uri="{FF2B5EF4-FFF2-40B4-BE49-F238E27FC236}">
                <a16:creationId xmlns:a16="http://schemas.microsoft.com/office/drawing/2014/main" id="{1A06A5CD-B7EC-4C8F-99E4-9AF82F4E8BD7}"/>
              </a:ext>
            </a:extLst>
          </p:cNvPr>
          <p:cNvSpPr>
            <a:spLocks xmlns:a="http://schemas.openxmlformats.org/drawingml/2006/main" noGrp="1"/>
          </p:cNvSpPr>
          <p:nvPr/>
        </p:nvSpPr>
        <p:spPr>
          <a:xfrm xmlns:a="http://schemas.openxmlformats.org/drawingml/2006/main">
            <a:off x="6724650" y="4029075"/>
            <a:ext cx="4838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4706F"/>
                </a:solidFill>
                <a:latin typeface="Helvetica Neue"/>
                <a:ea typeface="Helvetica Neue"/>
                <a:cs typeface="Helvetica Neue"/>
              </a:defRPr>
            </a:pPr>
            <a:r>
              <a:rPr sz="1875" b="0">
                <a:solidFill>
                  <a:srgbClr val="54706F"/>
                </a:solidFill>
                <a:latin typeface="Helvetica Neue"/>
                <a:ea typeface="Helvetica Neue"/>
                <a:cs typeface="Helvetica Neue"/>
              </a:rPr>
              <a:t>49 afternoons per venue in summer 2025</a:t>
            </a:r>
          </a:p>
          <a:p xmlns:a="http://schemas.openxmlformats.org/drawingml/2006/main">
            <a:pPr>
              <a:defRPr sz="1875" b="0">
                <a:solidFill>
                  <a:srgbClr val="54706F"/>
                </a:solidFill>
                <a:latin typeface="Helvetica Neue"/>
                <a:ea typeface="Helvetica Neue"/>
                <a:cs typeface="Helvetica Neue"/>
              </a:defRPr>
            </a:pPr>
            <a:r>
              <a:rPr sz="1875" b="0">
                <a:solidFill>
                  <a:srgbClr val="54706F"/>
                </a:solidFill>
                <a:latin typeface="Helvetica Neue"/>
                <a:ea typeface="Helvetica Neue"/>
                <a:cs typeface="Helvetica Neue"/>
              </a:rPr>
              <a:t>Consistent ERA5 modeled weather</a:t>
            </a:r>
          </a:p>
          <a:p xmlns:a="http://schemas.openxmlformats.org/drawingml/2006/main">
            <a:pPr>
              <a:defRPr sz="1875" b="0">
                <a:solidFill>
                  <a:srgbClr val="54706F"/>
                </a:solidFill>
                <a:latin typeface="Helvetica Neue"/>
                <a:ea typeface="Helvetica Neue"/>
                <a:cs typeface="Helvetica Neue"/>
              </a:defRPr>
            </a:pPr>
            <a:r>
              <a:rPr sz="1875" b="0">
                <a:solidFill>
                  <a:srgbClr val="54706F"/>
                </a:solidFill>
                <a:latin typeface="Helvetica Neue"/>
                <a:ea typeface="Helvetica Neue"/>
                <a:cs typeface="Helvetica Neue"/>
              </a:rPr>
              <a:t>Seasonal context, not a 2026 forecast.</a:t>
            </a:r>
          </a:p>
        </p:txBody>
      </p:sp>
      <p:sp>
        <p:nvSpPr>
          <p:cNvPr id="10" name="">
            <a:extLst xmlns:a="http://schemas.openxmlformats.org/drawingml/2006/main">
              <a:ext uri="{FF2B5EF4-FFF2-40B4-BE49-F238E27FC236}">
                <a16:creationId xmlns:a16="http://schemas.microsoft.com/office/drawing/2014/main" id="{CAF60E1B-0A12-4FE2-B165-F3F3E0492282}"/>
              </a:ext>
            </a:extLst>
          </p:cNvPr>
          <p:cNvSpPr>
            <a:spLocks xmlns:a="http://schemas.openxmlformats.org/drawingml/2006/main" noGrp="1"/>
          </p:cNvSpPr>
          <p:nvPr/>
        </p:nvSpPr>
        <p:spPr>
          <a:xfrm xmlns:a="http://schemas.openxmlformats.org/drawingml/2006/main">
            <a:off x="609600" y="5581650"/>
            <a:ext cx="10858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02E36"/>
                </a:solidFill>
                <a:latin typeface="Helvetica Neue"/>
                <a:ea typeface="Helvetica Neue"/>
                <a:cs typeface="Helvetica Neue"/>
              </a:defRPr>
            </a:pPr>
            <a:r>
              <a:rPr sz="1800" b="0">
                <a:solidFill>
                  <a:srgbClr val="102E36"/>
                </a:solidFill>
                <a:latin typeface="Helvetica Neue"/>
                <a:ea typeface="Helvetica Neue"/>
                <a:cs typeface="Helvetica Neue"/>
              </a:rPr>
              <a:t>Visitor counts, dwell time, shade coverage, costs and intervention effects remain editable planning assumptions.</a:t>
            </a:r>
          </a:p>
        </p:txBody>
      </p:sp>
    </p:spTree>
    <p:extLst>
      <p:ext uri="{BB962C8B-B14F-4D97-AF65-F5344CB8AC3E}">
        <p14:creationId xmlns:p14="http://schemas.microsoft.com/office/powerpoint/2010/main" val="197824693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01A5C1B-AAA8-40EF-8C65-D284E1C0BB17}"/>
              </a:ext>
            </a:extLst>
          </p:cNvPr>
          <p:cNvSpPr>
            <a:spLocks xmlns:a="http://schemas.openxmlformats.org/drawingml/2006/main" noGrp="1"/>
          </p:cNvSpPr>
          <p:nvPr/>
        </p:nvSpPr>
        <p:spPr>
          <a:xfrm xmlns:a="http://schemas.openxmlformats.org/drawingml/2006/main">
            <a:off x="609600" y="333375"/>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06C59"/>
                </a:solidFill>
                <a:latin typeface="Helvetica Neue"/>
                <a:ea typeface="Helvetica Neue"/>
                <a:cs typeface="Helvetica Neue"/>
              </a:defRPr>
            </a:pPr>
            <a:r>
              <a:rPr sz="1275" b="1">
                <a:solidFill>
                  <a:srgbClr val="006C59"/>
                </a:solidFill>
                <a:latin typeface="Helvetica Neue"/>
                <a:ea typeface="Helvetica Neue"/>
                <a:cs typeface="Helvetica Neue"/>
              </a:rPr>
              <a:t>SHADE SHIFT   /   THE VERIFIED SCENARIO</a:t>
            </a:r>
          </a:p>
        </p:txBody>
      </p:sp>
      <p:sp>
        <p:nvSpPr>
          <p:cNvPr id="2" name="">
            <a:extLst xmlns:a="http://schemas.openxmlformats.org/drawingml/2006/main">
              <a:ext uri="{FF2B5EF4-FFF2-40B4-BE49-F238E27FC236}">
                <a16:creationId xmlns:a16="http://schemas.microsoft.com/office/drawing/2014/main" id="{A44387A4-040F-49E9-81DF-9300FEEB0B45}"/>
              </a:ext>
            </a:extLst>
          </p:cNvPr>
          <p:cNvSpPr>
            <a:spLocks xmlns:a="http://schemas.openxmlformats.org/drawingml/2006/main" noGrp="1"/>
          </p:cNvSpPr>
          <p:nvPr/>
        </p:nvSpPr>
        <p:spPr>
          <a:xfrm xmlns:a="http://schemas.openxmlformats.org/drawingml/2006/main">
            <a:off x="609600" y="914400"/>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102E36"/>
                </a:solidFill>
                <a:latin typeface="Helvetica Neue"/>
                <a:ea typeface="Helvetica Neue"/>
                <a:cs typeface="Helvetica Neue"/>
              </a:defRPr>
            </a:pPr>
            <a:r>
              <a:rPr sz="3525" b="1">
                <a:solidFill>
                  <a:srgbClr val="102E36"/>
                </a:solidFill>
                <a:latin typeface="Helvetica Neue"/>
                <a:ea typeface="Helvetica Neue"/>
                <a:cs typeface="Helvetica Neue"/>
              </a:rPr>
              <a:t>Same $70,000. Different allocation.</a:t>
            </a:r>
          </a:p>
        </p:txBody>
      </p:sp>
      <p:sp>
        <p:nvSpPr>
          <p:cNvPr id="3" name="">
            <a:extLst xmlns:a="http://schemas.openxmlformats.org/drawingml/2006/main">
              <a:ext uri="{FF2B5EF4-FFF2-40B4-BE49-F238E27FC236}">
                <a16:creationId xmlns:a16="http://schemas.microsoft.com/office/drawing/2014/main" id="{693774CB-4CF8-4A2C-AAE7-0B5736CF57AD}"/>
              </a:ext>
            </a:extLst>
          </p:cNvPr>
          <p:cNvSpPr>
            <a:spLocks xmlns:a="http://schemas.openxmlformats.org/drawingml/2006/main" noGrp="1"/>
          </p:cNvSpPr>
          <p:nvPr/>
        </p:nvSpPr>
        <p:spPr>
          <a:xfrm xmlns:a="http://schemas.openxmlformats.org/drawingml/2006/main">
            <a:off x="609600" y="6457950"/>
            <a:ext cx="1095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4706F"/>
                </a:solidFill>
                <a:latin typeface="Helvetica Neue"/>
                <a:ea typeface="Helvetica Neue"/>
                <a:cs typeface="Helvetica Neue"/>
              </a:defRPr>
            </a:pPr>
            <a:r>
              <a:rPr sz="975" b="0">
                <a:solidFill>
                  <a:srgbClr val="54706F"/>
                </a:solidFill>
                <a:latin typeface="Helvetica Neue"/>
                <a:ea typeface="Helvetica Neue"/>
                <a:cs typeface="Helvetica Neue"/>
              </a:rPr>
              <a:t>04   /   RICE URBAN SUSTAINABILITY HACKATHON · TRACK 3</a:t>
            </a:r>
          </a:p>
        </p:txBody>
      </p:sp>
      <p:sp>
        <p:nvSpPr>
          <p:cNvPr id="4" name="">
            <a:extLst xmlns:a="http://schemas.openxmlformats.org/drawingml/2006/main">
              <a:ext uri="{FF2B5EF4-FFF2-40B4-BE49-F238E27FC236}">
                <a16:creationId xmlns:a16="http://schemas.microsoft.com/office/drawing/2014/main" id="{B370B319-09B3-4B24-89EF-F71C56423FD4}"/>
              </a:ext>
            </a:extLst>
          </p:cNvPr>
          <p:cNvSpPr>
            <a:spLocks xmlns:a="http://schemas.openxmlformats.org/drawingml/2006/main" noGrp="1"/>
          </p:cNvSpPr>
          <p:nvPr/>
        </p:nvSpPr>
        <p:spPr>
          <a:xfrm xmlns:a="http://schemas.openxmlformats.org/drawingml/2006/main">
            <a:off x="609600" y="2085975"/>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006C59"/>
                </a:solidFill>
                <a:latin typeface="Helvetica Neue"/>
                <a:ea typeface="Helvetica Neue"/>
                <a:cs typeface="Helvetica Neue"/>
              </a:defRPr>
            </a:pPr>
            <a:r>
              <a:rPr sz="5700" b="1">
                <a:solidFill>
                  <a:srgbClr val="006C59"/>
                </a:solidFill>
                <a:latin typeface="Helvetica Neue"/>
                <a:ea typeface="Helvetica Neue"/>
                <a:cs typeface="Helvetica Neue"/>
              </a:rPr>
              <a:t>31.25%</a:t>
            </a:r>
          </a:p>
        </p:txBody>
      </p:sp>
      <p:sp>
        <p:nvSpPr>
          <p:cNvPr id="5" name="">
            <a:extLst xmlns:a="http://schemas.openxmlformats.org/drawingml/2006/main">
              <a:ext uri="{FF2B5EF4-FFF2-40B4-BE49-F238E27FC236}">
                <a16:creationId xmlns:a16="http://schemas.microsoft.com/office/drawing/2014/main" id="{8EBBF1C5-6496-4BC8-8B87-37F22D430836}"/>
              </a:ext>
            </a:extLst>
          </p:cNvPr>
          <p:cNvSpPr>
            <a:spLocks xmlns:a="http://schemas.openxmlformats.org/drawingml/2006/main" noGrp="1"/>
          </p:cNvSpPr>
          <p:nvPr/>
        </p:nvSpPr>
        <p:spPr>
          <a:xfrm xmlns:a="http://schemas.openxmlformats.org/drawingml/2006/main">
            <a:off x="609600" y="3162300"/>
            <a:ext cx="4286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2E36"/>
                </a:solidFill>
                <a:latin typeface="Helvetica Neue"/>
                <a:ea typeface="Helvetica Neue"/>
                <a:cs typeface="Helvetica Neue"/>
              </a:defRPr>
            </a:pPr>
            <a:r>
              <a:rPr sz="2025" b="0">
                <a:solidFill>
                  <a:srgbClr val="102E36"/>
                </a:solidFill>
                <a:latin typeface="Helvetica Neue"/>
                <a:ea typeface="Helvetica Neue"/>
                <a:cs typeface="Helvetica Neue"/>
              </a:rPr>
              <a:t>modeled direct-sun time reduction</a:t>
            </a:r>
          </a:p>
          <a:p xmlns:a="http://schemas.openxmlformats.org/drawingml/2006/main">
            <a:pPr>
              <a:defRPr sz="2025" b="0">
                <a:solidFill>
                  <a:srgbClr val="102E36"/>
                </a:solidFill>
                <a:latin typeface="Helvetica Neue"/>
                <a:ea typeface="Helvetica Neue"/>
                <a:cs typeface="Helvetica Neue"/>
              </a:defRPr>
            </a:pPr>
            <a:r>
              <a:rPr sz="2025" b="0">
                <a:solidFill>
                  <a:srgbClr val="102E36"/>
                </a:solidFill>
                <a:latin typeface="Helvetica Neue"/>
                <a:ea typeface="Helvetica Neue"/>
                <a:cs typeface="Helvetica Neue"/>
              </a:rPr>
              <a:t>with the exposure-maximizing plan</a:t>
            </a:r>
          </a:p>
        </p:txBody>
      </p:sp>
      <p:sp>
        <p:nvSpPr>
          <p:cNvPr id="6" name="">
            <a:extLst xmlns:a="http://schemas.openxmlformats.org/drawingml/2006/main">
              <a:ext uri="{FF2B5EF4-FFF2-40B4-BE49-F238E27FC236}">
                <a16:creationId xmlns:a16="http://schemas.microsoft.com/office/drawing/2014/main" id="{0A24EFAE-6257-4CE8-9E0B-72EE0C20B44C}"/>
              </a:ext>
            </a:extLst>
          </p:cNvPr>
          <p:cNvSpPr>
            <a:spLocks xmlns:a="http://schemas.openxmlformats.org/drawingml/2006/main" noGrp="1"/>
          </p:cNvSpPr>
          <p:nvPr/>
        </p:nvSpPr>
        <p:spPr>
          <a:xfrm xmlns:a="http://schemas.openxmlformats.org/drawingml/2006/main">
            <a:off x="609600" y="4314825"/>
            <a:ext cx="4286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02E36"/>
                </a:solidFill>
                <a:latin typeface="Helvetica Neue"/>
                <a:ea typeface="Helvetica Neue"/>
                <a:cs typeface="Helvetica Neue"/>
              </a:defRPr>
            </a:pPr>
            <a:r>
              <a:rPr sz="2100" b="1">
                <a:solidFill>
                  <a:srgbClr val="102E36"/>
                </a:solidFill>
                <a:latin typeface="Helvetica Neue"/>
                <a:ea typeface="Helvetica Neue"/>
                <a:cs typeface="Helvetica Neue"/>
              </a:rPr>
              <a:t>127,902 person-minutes avoided</a:t>
            </a:r>
          </a:p>
          <a:p xmlns:a="http://schemas.openxmlformats.org/drawingml/2006/main">
            <a:pPr>
              <a:defRPr sz="2100" b="1">
                <a:solidFill>
                  <a:srgbClr val="102E36"/>
                </a:solidFill>
                <a:latin typeface="Helvetica Neue"/>
                <a:ea typeface="Helvetica Neue"/>
                <a:cs typeface="Helvetica Neue"/>
              </a:defRPr>
            </a:pPr>
            <a:r>
              <a:rPr sz="2100" b="1">
                <a:solidFill>
                  <a:srgbClr val="102E36"/>
                </a:solidFill>
                <a:latin typeface="Helvetica Neue"/>
                <a:ea typeface="Helvetica Neue"/>
                <a:cs typeface="Helvetica Neue"/>
              </a:rPr>
              <a:t>per modeled event</a:t>
            </a:r>
          </a:p>
        </p:txBody>
      </p:sp>
      <p:sp>
        <p:nvSpPr>
          <p:cNvPr id="7" name="">
            <a:extLst xmlns:a="http://schemas.openxmlformats.org/drawingml/2006/main">
              <a:ext uri="{FF2B5EF4-FFF2-40B4-BE49-F238E27FC236}">
                <a16:creationId xmlns:a16="http://schemas.microsoft.com/office/drawing/2014/main" id="{0B8F0A96-0200-4F83-A8D1-6DB656A8148E}"/>
              </a:ext>
            </a:extLst>
          </p:cNvPr>
          <p:cNvSpPr>
            <a:spLocks xmlns:a="http://schemas.openxmlformats.org/drawingml/2006/main" noGrp="1"/>
          </p:cNvSpPr>
          <p:nvPr/>
        </p:nvSpPr>
        <p:spPr>
          <a:xfrm xmlns:a="http://schemas.openxmlformats.org/drawingml/2006/main">
            <a:off x="609600" y="5457825"/>
            <a:ext cx="4248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4706F"/>
                </a:solidFill>
                <a:latin typeface="Helvetica Neue"/>
                <a:ea typeface="Helvetica Neue"/>
                <a:cs typeface="Helvetica Neue"/>
              </a:defRPr>
            </a:pPr>
            <a:r>
              <a:rPr sz="1650" b="0">
                <a:solidFill>
                  <a:srgbClr val="54706F"/>
                </a:solidFill>
                <a:latin typeface="Helvetica Neue"/>
                <a:ea typeface="Helvetica Neue"/>
                <a:cs typeface="Helvetica Neue"/>
              </a:rPr>
              <a:t>Arithmetic verified against the model.</a:t>
            </a:r>
          </a:p>
          <a:p xmlns:a="http://schemas.openxmlformats.org/drawingml/2006/main">
            <a:pPr>
              <a:defRPr sz="1650" b="0">
                <a:solidFill>
                  <a:srgbClr val="54706F"/>
                </a:solidFill>
                <a:latin typeface="Helvetica Neue"/>
                <a:ea typeface="Helvetica Neue"/>
                <a:cs typeface="Helvetica Neue"/>
              </a:defRPr>
            </a:pPr>
            <a:r>
              <a:rPr sz="1650" b="0">
                <a:solidFill>
                  <a:srgbClr val="54706F"/>
                </a:solidFill>
                <a:latin typeface="Helvetica Neue"/>
                <a:ea typeface="Helvetica Neue"/>
                <a:cs typeface="Helvetica Neue"/>
              </a:rPr>
              <a:t>Physical impact has not been measured.</a:t>
            </a:r>
          </a:p>
        </p:txBody>
      </p:sp>
      <p:graphicFrame>
        <p:nvGraphicFramePr>
          <p:cNvPr id="17" name="Chart"/>
          <p:cNvGraphicFramePr/>
          <p:nvPr/>
        </p:nvGraphicFramePr>
        <p:xfrm>
          <a:off xmlns:a="http://schemas.openxmlformats.org/drawingml/2006/main" x="5314950" y="2162175"/>
          <a:ext xmlns:a="http://schemas.openxmlformats.org/drawingml/2006/main" cx="6210300" cy="3248025"/>
        </p:xfrm>
        <a:graphic xmlns:a="http://schemas.openxmlformats.org/drawingml/2006/main">
          <a:graphicData uri="http://schemas.openxmlformats.org/drawingml/2006/chart">
            <c:chart xmlns:r="http://schemas.openxmlformats.org/officeDocument/2006/relationships" xmlns:c="http://schemas.openxmlformats.org/drawingml/2006/chart" r:id="R4696e18119ba4d8e"/>
          </a:graphicData>
        </a:graphic>
      </p:graphicFrame>
      <p:sp>
        <p:nvSpPr>
          <p:cNvPr id="9" name="">
            <a:extLst xmlns:a="http://schemas.openxmlformats.org/drawingml/2006/main">
              <a:ext uri="{FF2B5EF4-FFF2-40B4-BE49-F238E27FC236}">
                <a16:creationId xmlns:a16="http://schemas.microsoft.com/office/drawing/2014/main" id="{D1EAB6E0-F9AD-42D8-8B89-3ADD3C94FA2E}"/>
              </a:ext>
            </a:extLst>
          </p:cNvPr>
          <p:cNvSpPr>
            <a:spLocks xmlns:a="http://schemas.openxmlformats.org/drawingml/2006/main" noGrp="1"/>
          </p:cNvSpPr>
          <p:nvPr/>
        </p:nvSpPr>
        <p:spPr>
          <a:xfrm xmlns:a="http://schemas.openxmlformats.org/drawingml/2006/main">
            <a:off x="5486400" y="5638800"/>
            <a:ext cx="5810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4706F"/>
                </a:solidFill>
                <a:latin typeface="Helvetica Neue"/>
                <a:ea typeface="Helvetica Neue"/>
                <a:cs typeface="Helvetica Neue"/>
              </a:defRPr>
            </a:pPr>
            <a:r>
              <a:rPr sz="1575" b="0">
                <a:solidFill>
                  <a:srgbClr val="54706F"/>
                </a:solidFill>
                <a:latin typeface="Helvetica Neue"/>
                <a:ea typeface="Helvetica Neue"/>
                <a:cs typeface="Helvetica Neue"/>
              </a:rPr>
              <a:t>Remaining direct-sun person-minutes per event</a:t>
            </a:r>
          </a:p>
        </p:txBody>
      </p:sp>
    </p:spTree>
    <p:extLst>
      <p:ext uri="{BB962C8B-B14F-4D97-AF65-F5344CB8AC3E}">
        <p14:creationId xmlns:p14="http://schemas.microsoft.com/office/powerpoint/2010/main" val="96454196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572AF67-0262-4757-8489-669842B22415}"/>
              </a:ext>
            </a:extLst>
          </p:cNvPr>
          <p:cNvSpPr>
            <a:spLocks xmlns:a="http://schemas.openxmlformats.org/drawingml/2006/main" noGrp="1"/>
          </p:cNvSpPr>
          <p:nvPr/>
        </p:nvSpPr>
        <p:spPr>
          <a:xfrm xmlns:a="http://schemas.openxmlformats.org/drawingml/2006/main">
            <a:off x="609600" y="333375"/>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06C59"/>
                </a:solidFill>
                <a:latin typeface="Helvetica Neue"/>
                <a:ea typeface="Helvetica Neue"/>
                <a:cs typeface="Helvetica Neue"/>
              </a:defRPr>
            </a:pPr>
            <a:r>
              <a:rPr sz="1275" b="1">
                <a:solidFill>
                  <a:srgbClr val="006C59"/>
                </a:solidFill>
                <a:latin typeface="Helvetica Neue"/>
                <a:ea typeface="Helvetica Neue"/>
                <a:cs typeface="Helvetica Neue"/>
              </a:rPr>
              <a:t>SHADE SHIFT   /   THE TRADEOFF</a:t>
            </a:r>
          </a:p>
        </p:txBody>
      </p:sp>
      <p:sp>
        <p:nvSpPr>
          <p:cNvPr id="2" name="">
            <a:extLst xmlns:a="http://schemas.openxmlformats.org/drawingml/2006/main">
              <a:ext uri="{FF2B5EF4-FFF2-40B4-BE49-F238E27FC236}">
                <a16:creationId xmlns:a16="http://schemas.microsoft.com/office/drawing/2014/main" id="{241E689C-F6DB-41EB-96FD-7F26D6EEBD3D}"/>
              </a:ext>
            </a:extLst>
          </p:cNvPr>
          <p:cNvSpPr>
            <a:spLocks xmlns:a="http://schemas.openxmlformats.org/drawingml/2006/main" noGrp="1"/>
          </p:cNvSpPr>
          <p:nvPr/>
        </p:nvSpPr>
        <p:spPr>
          <a:xfrm xmlns:a="http://schemas.openxmlformats.org/drawingml/2006/main">
            <a:off x="609600" y="914400"/>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102E36"/>
                </a:solidFill>
                <a:latin typeface="Helvetica Neue"/>
                <a:ea typeface="Helvetica Neue"/>
                <a:cs typeface="Helvetica Neue"/>
              </a:defRPr>
            </a:pPr>
            <a:r>
              <a:rPr sz="3525" b="1">
                <a:solidFill>
                  <a:srgbClr val="102E36"/>
                </a:solidFill>
                <a:latin typeface="Helvetica Neue"/>
                <a:ea typeface="Helvetica Neue"/>
                <a:cs typeface="Helvetica Neue"/>
              </a:rPr>
              <a:t>More exposure reduction can mean less service</a:t>
            </a:r>
          </a:p>
        </p:txBody>
      </p:sp>
      <p:sp>
        <p:nvSpPr>
          <p:cNvPr id="3" name="">
            <a:extLst xmlns:a="http://schemas.openxmlformats.org/drawingml/2006/main">
              <a:ext uri="{FF2B5EF4-FFF2-40B4-BE49-F238E27FC236}">
                <a16:creationId xmlns:a16="http://schemas.microsoft.com/office/drawing/2014/main" id="{40469C12-C4F5-41E6-91E4-08FCB380CC20}"/>
              </a:ext>
            </a:extLst>
          </p:cNvPr>
          <p:cNvSpPr>
            <a:spLocks xmlns:a="http://schemas.openxmlformats.org/drawingml/2006/main" noGrp="1"/>
          </p:cNvSpPr>
          <p:nvPr/>
        </p:nvSpPr>
        <p:spPr>
          <a:xfrm xmlns:a="http://schemas.openxmlformats.org/drawingml/2006/main">
            <a:off x="609600" y="6457950"/>
            <a:ext cx="1095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4706F"/>
                </a:solidFill>
                <a:latin typeface="Helvetica Neue"/>
                <a:ea typeface="Helvetica Neue"/>
                <a:cs typeface="Helvetica Neue"/>
              </a:defRPr>
            </a:pPr>
            <a:r>
              <a:rPr sz="975" b="0">
                <a:solidFill>
                  <a:srgbClr val="54706F"/>
                </a:solidFill>
                <a:latin typeface="Helvetica Neue"/>
                <a:ea typeface="Helvetica Neue"/>
                <a:cs typeface="Helvetica Neue"/>
              </a:rPr>
              <a:t>05   /   RICE URBAN SUSTAINABILITY HACKATHON · TRACK 3</a:t>
            </a:r>
          </a:p>
        </p:txBody>
      </p:sp>
      <p:graphicFrame>
        <p:nvGraphicFramePr>
          <p:cNvPr id="14" name="Chart"/>
          <p:cNvGraphicFramePr/>
          <p:nvPr/>
        </p:nvGraphicFramePr>
        <p:xfrm>
          <a:off xmlns:a="http://schemas.openxmlformats.org/drawingml/2006/main" x="552450" y="2257425"/>
          <a:ext xmlns:a="http://schemas.openxmlformats.org/drawingml/2006/main" cx="5724525" cy="3067050"/>
        </p:xfrm>
        <a:graphic xmlns:a="http://schemas.openxmlformats.org/drawingml/2006/main">
          <a:graphicData uri="http://schemas.openxmlformats.org/drawingml/2006/chart">
            <c:chart xmlns:r="http://schemas.openxmlformats.org/officeDocument/2006/relationships" xmlns:c="http://schemas.openxmlformats.org/drawingml/2006/chart" r:id="R1a7b2f65a6be49b7"/>
          </a:graphicData>
        </a:graphic>
      </p:graphicFrame>
      <p:sp>
        <p:nvSpPr>
          <p:cNvPr id="5" name="">
            <a:extLst xmlns:a="http://schemas.openxmlformats.org/drawingml/2006/main">
              <a:ext uri="{FF2B5EF4-FFF2-40B4-BE49-F238E27FC236}">
                <a16:creationId xmlns:a16="http://schemas.microsoft.com/office/drawing/2014/main" id="{B25823A6-A5A4-4A36-BFF2-5E91F61C0FD1}"/>
              </a:ext>
            </a:extLst>
          </p:cNvPr>
          <p:cNvSpPr>
            <a:spLocks xmlns:a="http://schemas.openxmlformats.org/drawingml/2006/main" noGrp="1"/>
          </p:cNvSpPr>
          <p:nvPr/>
        </p:nvSpPr>
        <p:spPr>
          <a:xfrm xmlns:a="http://schemas.openxmlformats.org/drawingml/2006/main">
            <a:off x="609600" y="5524500"/>
            <a:ext cx="5715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4706F"/>
                </a:solidFill>
                <a:latin typeface="Helvetica Neue"/>
                <a:ea typeface="Helvetica Neue"/>
                <a:cs typeface="Helvetica Neue"/>
              </a:defRPr>
            </a:pPr>
            <a:r>
              <a:rPr sz="1650" b="0">
                <a:solidFill>
                  <a:srgbClr val="54706F"/>
                </a:solidFill>
                <a:latin typeface="Helvetica Neue"/>
                <a:ea typeface="Helvetica Neue"/>
                <a:cs typeface="Helvetica Neue"/>
              </a:rPr>
              <a:t>Fixed optimized portfolio: intervention effectiveness</a:t>
            </a:r>
          </a:p>
          <a:p xmlns:a="http://schemas.openxmlformats.org/drawingml/2006/main">
            <a:pPr>
              <a:defRPr sz="1650" b="0">
                <a:solidFill>
                  <a:srgbClr val="54706F"/>
                </a:solidFill>
                <a:latin typeface="Helvetica Neue"/>
                <a:ea typeface="Helvetica Neue"/>
                <a:cs typeface="Helvetica Neue"/>
              </a:defRPr>
            </a:pPr>
            <a:r>
              <a:rPr sz="1650" b="0">
                <a:solidFill>
                  <a:srgbClr val="54706F"/>
                </a:solidFill>
                <a:latin typeface="Helvetica Neue"/>
                <a:ea typeface="Helvetica Neue"/>
                <a:cs typeface="Helvetica Neue"/>
              </a:rPr>
              <a:t>changes the estimated reduction from 18.75% to 31.25%.</a:t>
            </a:r>
          </a:p>
        </p:txBody>
      </p:sp>
      <p:sp>
        <p:nvSpPr>
          <p:cNvPr id="6" name="">
            <a:extLst xmlns:a="http://schemas.openxmlformats.org/drawingml/2006/main">
              <a:ext uri="{FF2B5EF4-FFF2-40B4-BE49-F238E27FC236}">
                <a16:creationId xmlns:a16="http://schemas.microsoft.com/office/drawing/2014/main" id="{4BA55887-901C-4557-9FE7-95D11CAB39CE}"/>
              </a:ext>
            </a:extLst>
          </p:cNvPr>
          <p:cNvSpPr>
            <a:spLocks xmlns:a="http://schemas.openxmlformats.org/drawingml/2006/main" noGrp="1"/>
          </p:cNvSpPr>
          <p:nvPr/>
        </p:nvSpPr>
        <p:spPr>
          <a:xfrm xmlns:a="http://schemas.openxmlformats.org/drawingml/2006/main">
            <a:off x="7105650" y="2200275"/>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E36"/>
                </a:solidFill>
                <a:latin typeface="Helvetica Neue"/>
                <a:ea typeface="Helvetica Neue"/>
                <a:cs typeface="Helvetica Neue"/>
              </a:defRPr>
            </a:pPr>
            <a:r>
              <a:rPr sz="2175" b="1">
                <a:solidFill>
                  <a:srgbClr val="102E36"/>
                </a:solidFill>
                <a:latin typeface="Helvetica Neue"/>
                <a:ea typeface="Helvetica Neue"/>
                <a:cs typeface="Helvetica Neue"/>
              </a:rPr>
              <a:t>Water access</a:t>
            </a:r>
          </a:p>
        </p:txBody>
      </p:sp>
      <p:sp>
        <p:nvSpPr>
          <p:cNvPr id="7" name="">
            <a:extLst xmlns:a="http://schemas.openxmlformats.org/drawingml/2006/main">
              <a:ext uri="{FF2B5EF4-FFF2-40B4-BE49-F238E27FC236}">
                <a16:creationId xmlns:a16="http://schemas.microsoft.com/office/drawing/2014/main" id="{61E02674-A6F8-4BD5-8F65-E39CE8401EF4}"/>
              </a:ext>
            </a:extLst>
          </p:cNvPr>
          <p:cNvSpPr>
            <a:spLocks xmlns:a="http://schemas.openxmlformats.org/drawingml/2006/main" noGrp="1"/>
          </p:cNvSpPr>
          <p:nvPr/>
        </p:nvSpPr>
        <p:spPr>
          <a:xfrm xmlns:a="http://schemas.openxmlformats.org/drawingml/2006/main">
            <a:off x="7105650" y="2714625"/>
            <a:ext cx="4143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59"/>
                </a:solidFill>
                <a:latin typeface="Helvetica Neue"/>
                <a:ea typeface="Helvetica Neue"/>
                <a:cs typeface="Helvetica Neue"/>
              </a:defRPr>
            </a:pPr>
            <a:r>
              <a:rPr sz="2325" b="1">
                <a:solidFill>
                  <a:srgbClr val="006C59"/>
                </a:solidFill>
                <a:latin typeface="Helvetica Neue"/>
                <a:ea typeface="Helvetica Neue"/>
                <a:cs typeface="Helvetica Neue"/>
              </a:rPr>
              <a:t>1,200 refills to 0</a:t>
            </a:r>
          </a:p>
        </p:txBody>
      </p:sp>
      <p:sp>
        <p:nvSpPr>
          <p:cNvPr id="8" name="">
            <a:extLst xmlns:a="http://schemas.openxmlformats.org/drawingml/2006/main">
              <a:ext uri="{FF2B5EF4-FFF2-40B4-BE49-F238E27FC236}">
                <a16:creationId xmlns:a16="http://schemas.microsoft.com/office/drawing/2014/main" id="{353B0E97-9F17-4887-8ED5-0607EF35E53A}"/>
              </a:ext>
            </a:extLst>
          </p:cNvPr>
          <p:cNvSpPr>
            <a:spLocks xmlns:a="http://schemas.openxmlformats.org/drawingml/2006/main" noGrp="1"/>
          </p:cNvSpPr>
          <p:nvPr/>
        </p:nvSpPr>
        <p:spPr>
          <a:xfrm xmlns:a="http://schemas.openxmlformats.org/drawingml/2006/main">
            <a:off x="7105650" y="3524250"/>
            <a:ext cx="4324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02E36"/>
                </a:solidFill>
                <a:latin typeface="Helvetica Neue"/>
                <a:ea typeface="Helvetica Neue"/>
                <a:cs typeface="Helvetica Neue"/>
              </a:defRPr>
            </a:pPr>
            <a:r>
              <a:rPr sz="2025" b="1">
                <a:solidFill>
                  <a:srgbClr val="102E36"/>
                </a:solidFill>
                <a:latin typeface="Helvetica Neue"/>
                <a:ea typeface="Helvetica Neue"/>
                <a:cs typeface="Helvetica Neue"/>
              </a:rPr>
              <a:t>Community-weighted investment</a:t>
            </a:r>
          </a:p>
        </p:txBody>
      </p:sp>
      <p:sp>
        <p:nvSpPr>
          <p:cNvPr id="9" name="">
            <a:extLst xmlns:a="http://schemas.openxmlformats.org/drawingml/2006/main">
              <a:ext uri="{FF2B5EF4-FFF2-40B4-BE49-F238E27FC236}">
                <a16:creationId xmlns:a16="http://schemas.microsoft.com/office/drawing/2014/main" id="{875F2A24-85B7-4D78-94E8-F2E6E2B8F70E}"/>
              </a:ext>
            </a:extLst>
          </p:cNvPr>
          <p:cNvSpPr>
            <a:spLocks xmlns:a="http://schemas.openxmlformats.org/drawingml/2006/main" noGrp="1"/>
          </p:cNvSpPr>
          <p:nvPr/>
        </p:nvSpPr>
        <p:spPr>
          <a:xfrm xmlns:a="http://schemas.openxmlformats.org/drawingml/2006/main">
            <a:off x="7105650" y="4029075"/>
            <a:ext cx="4191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006C59"/>
                </a:solidFill>
                <a:latin typeface="Helvetica Neue"/>
                <a:ea typeface="Helvetica Neue"/>
                <a:cs typeface="Helvetica Neue"/>
              </a:defRPr>
            </a:pPr>
            <a:r>
              <a:rPr sz="2775" b="1">
                <a:solidFill>
                  <a:srgbClr val="006C59"/>
                </a:solidFill>
                <a:latin typeface="Helvetica Neue"/>
                <a:ea typeface="Helvetica Neue"/>
                <a:cs typeface="Helvetica Neue"/>
              </a:rPr>
              <a:t>53.29% to 27.43%</a:t>
            </a:r>
          </a:p>
        </p:txBody>
      </p:sp>
      <p:sp>
        <p:nvSpPr>
          <p:cNvPr id="10" name="">
            <a:extLst xmlns:a="http://schemas.openxmlformats.org/drawingml/2006/main">
              <a:ext uri="{FF2B5EF4-FFF2-40B4-BE49-F238E27FC236}">
                <a16:creationId xmlns:a16="http://schemas.microsoft.com/office/drawing/2014/main" id="{F6E2D2E1-3292-4789-B72C-8C672EDFFCFB}"/>
              </a:ext>
            </a:extLst>
          </p:cNvPr>
          <p:cNvSpPr>
            <a:spLocks xmlns:a="http://schemas.openxmlformats.org/drawingml/2006/main" noGrp="1"/>
          </p:cNvSpPr>
          <p:nvPr/>
        </p:nvSpPr>
        <p:spPr>
          <a:xfrm xmlns:a="http://schemas.openxmlformats.org/drawingml/2006/main">
            <a:off x="7105650" y="5076825"/>
            <a:ext cx="4267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4706F"/>
                </a:solidFill>
                <a:latin typeface="Helvetica Neue"/>
                <a:ea typeface="Helvetica Neue"/>
                <a:cs typeface="Helvetica Neue"/>
              </a:defRPr>
            </a:pPr>
            <a:r>
              <a:rPr sz="1875" b="0">
                <a:solidFill>
                  <a:srgbClr val="54706F"/>
                </a:solidFill>
                <a:latin typeface="Helvetica Neue"/>
                <a:ea typeface="Helvetica Neue"/>
                <a:cs typeface="Helvetica Neue"/>
              </a:rPr>
              <a:t>Starting plan to optimized plan.</a:t>
            </a:r>
          </a:p>
          <a:p xmlns:a="http://schemas.openxmlformats.org/drawingml/2006/main">
            <a:pPr>
              <a:defRPr sz="1875" b="0">
                <a:solidFill>
                  <a:srgbClr val="54706F"/>
                </a:solidFill>
                <a:latin typeface="Helvetica Neue"/>
                <a:ea typeface="Helvetica Neue"/>
                <a:cs typeface="Helvetica Neue"/>
              </a:defRPr>
            </a:pPr>
            <a:r>
              <a:rPr sz="1875" b="0">
                <a:solidFill>
                  <a:srgbClr val="54706F"/>
                </a:solidFill>
                <a:latin typeface="Helvetica Neue"/>
                <a:ea typeface="Helvetica Neue"/>
                <a:cs typeface="Helvetica Neue"/>
              </a:rPr>
              <a:t>The operator still decides what to fund.</a:t>
            </a:r>
          </a:p>
        </p:txBody>
      </p:sp>
    </p:spTree>
    <p:extLst>
      <p:ext uri="{BB962C8B-B14F-4D97-AF65-F5344CB8AC3E}">
        <p14:creationId xmlns:p14="http://schemas.microsoft.com/office/powerpoint/2010/main" val="2612981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8137E54-FE92-405D-ACA7-78775591D206}"/>
              </a:ext>
            </a:extLst>
          </p:cNvPr>
          <p:cNvSpPr>
            <a:spLocks xmlns:a="http://schemas.openxmlformats.org/drawingml/2006/main" noGrp="1"/>
          </p:cNvSpPr>
          <p:nvPr/>
        </p:nvSpPr>
        <p:spPr>
          <a:xfrm xmlns:a="http://schemas.openxmlformats.org/drawingml/2006/main">
            <a:off x="609600" y="333375"/>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06C59"/>
                </a:solidFill>
                <a:latin typeface="Helvetica Neue"/>
                <a:ea typeface="Helvetica Neue"/>
                <a:cs typeface="Helvetica Neue"/>
              </a:defRPr>
            </a:pPr>
            <a:r>
              <a:rPr sz="1275" b="1">
                <a:solidFill>
                  <a:srgbClr val="006C59"/>
                </a:solidFill>
                <a:latin typeface="Helvetica Neue"/>
                <a:ea typeface="Helvetica Neue"/>
                <a:cs typeface="Helvetica Neue"/>
              </a:rPr>
              <a:t>SHADE SHIFT   /   THE BUSINESS</a:t>
            </a:r>
          </a:p>
        </p:txBody>
      </p:sp>
      <p:sp>
        <p:nvSpPr>
          <p:cNvPr id="2" name="">
            <a:extLst xmlns:a="http://schemas.openxmlformats.org/drawingml/2006/main">
              <a:ext uri="{FF2B5EF4-FFF2-40B4-BE49-F238E27FC236}">
                <a16:creationId xmlns:a16="http://schemas.microsoft.com/office/drawing/2014/main" id="{9F7776A1-B88C-4F6D-93B2-7C2A451A1A0B}"/>
              </a:ext>
            </a:extLst>
          </p:cNvPr>
          <p:cNvSpPr>
            <a:spLocks xmlns:a="http://schemas.openxmlformats.org/drawingml/2006/main" noGrp="1"/>
          </p:cNvSpPr>
          <p:nvPr/>
        </p:nvSpPr>
        <p:spPr>
          <a:xfrm xmlns:a="http://schemas.openxmlformats.org/drawingml/2006/main">
            <a:off x="609600" y="914400"/>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102E36"/>
                </a:solidFill>
                <a:latin typeface="Helvetica Neue"/>
                <a:ea typeface="Helvetica Neue"/>
                <a:cs typeface="Helvetica Neue"/>
              </a:defRPr>
            </a:pPr>
            <a:r>
              <a:rPr sz="3525" b="1">
                <a:solidFill>
                  <a:srgbClr val="102E36"/>
                </a:solidFill>
                <a:latin typeface="Helvetica Neue"/>
                <a:ea typeface="Helvetica Neue"/>
                <a:cs typeface="Helvetica Neue"/>
              </a:rPr>
              <a:t>A paid pilot before a subscription</a:t>
            </a:r>
          </a:p>
        </p:txBody>
      </p:sp>
      <p:sp>
        <p:nvSpPr>
          <p:cNvPr id="3" name="">
            <a:extLst xmlns:a="http://schemas.openxmlformats.org/drawingml/2006/main">
              <a:ext uri="{FF2B5EF4-FFF2-40B4-BE49-F238E27FC236}">
                <a16:creationId xmlns:a16="http://schemas.microsoft.com/office/drawing/2014/main" id="{097BB989-A6F0-40B1-85A6-135E422ADF30}"/>
              </a:ext>
            </a:extLst>
          </p:cNvPr>
          <p:cNvSpPr>
            <a:spLocks xmlns:a="http://schemas.openxmlformats.org/drawingml/2006/main" noGrp="1"/>
          </p:cNvSpPr>
          <p:nvPr/>
        </p:nvSpPr>
        <p:spPr>
          <a:xfrm xmlns:a="http://schemas.openxmlformats.org/drawingml/2006/main">
            <a:off x="609600" y="6457950"/>
            <a:ext cx="1095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4706F"/>
                </a:solidFill>
                <a:latin typeface="Helvetica Neue"/>
                <a:ea typeface="Helvetica Neue"/>
                <a:cs typeface="Helvetica Neue"/>
              </a:defRPr>
            </a:pPr>
            <a:r>
              <a:rPr sz="975" b="0">
                <a:solidFill>
                  <a:srgbClr val="54706F"/>
                </a:solidFill>
                <a:latin typeface="Helvetica Neue"/>
                <a:ea typeface="Helvetica Neue"/>
                <a:cs typeface="Helvetica Neue"/>
              </a:rPr>
              <a:t>06   /   RICE URBAN SUSTAINABILITY HACKATHON · TRACK 3</a:t>
            </a:r>
          </a:p>
        </p:txBody>
      </p:sp>
      <p:sp>
        <p:nvSpPr>
          <p:cNvPr id="4" name="">
            <a:extLst xmlns:a="http://schemas.openxmlformats.org/drawingml/2006/main">
              <a:ext uri="{FF2B5EF4-FFF2-40B4-BE49-F238E27FC236}">
                <a16:creationId xmlns:a16="http://schemas.microsoft.com/office/drawing/2014/main" id="{C20F7F32-FAE1-4C3D-B61F-6E89265C4AB1}"/>
              </a:ext>
            </a:extLst>
          </p:cNvPr>
          <p:cNvSpPr>
            <a:spLocks xmlns:a="http://schemas.openxmlformats.org/drawingml/2006/main" noGrp="1"/>
          </p:cNvSpPr>
          <p:nvPr/>
        </p:nvSpPr>
        <p:spPr>
          <a:xfrm xmlns:a="http://schemas.openxmlformats.org/drawingml/2006/main">
            <a:off x="609600" y="2133600"/>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006C59"/>
                </a:solidFill>
                <a:latin typeface="Helvetica Neue"/>
                <a:ea typeface="Helvetica Neue"/>
                <a:cs typeface="Helvetica Neue"/>
              </a:defRPr>
            </a:pPr>
            <a:r>
              <a:rPr sz="5100" b="1">
                <a:solidFill>
                  <a:srgbClr val="006C59"/>
                </a:solidFill>
                <a:latin typeface="Helvetica Neue"/>
                <a:ea typeface="Helvetica Neue"/>
                <a:cs typeface="Helvetica Neue"/>
              </a:rPr>
              <a:t>$5,000</a:t>
            </a:r>
          </a:p>
        </p:txBody>
      </p:sp>
      <p:sp>
        <p:nvSpPr>
          <p:cNvPr id="5" name="">
            <a:extLst xmlns:a="http://schemas.openxmlformats.org/drawingml/2006/main">
              <a:ext uri="{FF2B5EF4-FFF2-40B4-BE49-F238E27FC236}">
                <a16:creationId xmlns:a16="http://schemas.microsoft.com/office/drawing/2014/main" id="{E9BE635C-129E-47F0-BEEC-31A057A78B88}"/>
              </a:ext>
            </a:extLst>
          </p:cNvPr>
          <p:cNvSpPr>
            <a:spLocks xmlns:a="http://schemas.openxmlformats.org/drawingml/2006/main" noGrp="1"/>
          </p:cNvSpPr>
          <p:nvPr/>
        </p:nvSpPr>
        <p:spPr>
          <a:xfrm xmlns:a="http://schemas.openxmlformats.org/drawingml/2006/main">
            <a:off x="609600" y="3114675"/>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02E36"/>
                </a:solidFill>
                <a:latin typeface="Helvetica Neue"/>
                <a:ea typeface="Helvetica Neue"/>
                <a:cs typeface="Helvetica Neue"/>
              </a:defRPr>
            </a:pPr>
            <a:r>
              <a:rPr sz="2325" b="1">
                <a:solidFill>
                  <a:srgbClr val="102E36"/>
                </a:solidFill>
                <a:latin typeface="Helvetica Neue"/>
                <a:ea typeface="Helvetica Neue"/>
                <a:cs typeface="Helvetica Neue"/>
              </a:rPr>
              <a:t>Two-event assisted pilot</a:t>
            </a:r>
          </a:p>
        </p:txBody>
      </p:sp>
      <p:sp>
        <p:nvSpPr>
          <p:cNvPr id="6" name="">
            <a:extLst xmlns:a="http://schemas.openxmlformats.org/drawingml/2006/main">
              <a:ext uri="{FF2B5EF4-FFF2-40B4-BE49-F238E27FC236}">
                <a16:creationId xmlns:a16="http://schemas.microsoft.com/office/drawing/2014/main" id="{9F558750-084C-43B9-8950-7760BD3122C5}"/>
              </a:ext>
            </a:extLst>
          </p:cNvPr>
          <p:cNvSpPr>
            <a:spLocks xmlns:a="http://schemas.openxmlformats.org/drawingml/2006/main" noGrp="1"/>
          </p:cNvSpPr>
          <p:nvPr/>
        </p:nvSpPr>
        <p:spPr>
          <a:xfrm xmlns:a="http://schemas.openxmlformats.org/drawingml/2006/main">
            <a:off x="609600" y="3867150"/>
            <a:ext cx="50768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4706F"/>
                </a:solidFill>
                <a:latin typeface="Helvetica Neue"/>
                <a:ea typeface="Helvetica Neue"/>
                <a:cs typeface="Helvetica Neue"/>
              </a:defRPr>
            </a:pPr>
            <a:r>
              <a:rPr sz="2025" b="0">
                <a:solidFill>
                  <a:srgbClr val="54706F"/>
                </a:solidFill>
                <a:latin typeface="Helvetica Neue"/>
                <a:ea typeface="Helvetica Neue"/>
                <a:cs typeface="Helvetica Neue"/>
              </a:rPr>
              <a:t>Field audit, scenario workshops,</a:t>
            </a:r>
          </a:p>
          <a:p xmlns:a="http://schemas.openxmlformats.org/drawingml/2006/main">
            <a:pPr>
              <a:defRPr sz="2025" b="0">
                <a:solidFill>
                  <a:srgbClr val="54706F"/>
                </a:solidFill>
                <a:latin typeface="Helvetica Neue"/>
                <a:ea typeface="Helvetica Neue"/>
                <a:cs typeface="Helvetica Neue"/>
              </a:defRPr>
            </a:pPr>
            <a:r>
              <a:rPr sz="2025" b="0">
                <a:solidFill>
                  <a:srgbClr val="54706F"/>
                </a:solidFill>
                <a:latin typeface="Helvetica Neue"/>
                <a:ea typeface="Helvetica Neue"/>
                <a:cs typeface="Helvetica Neue"/>
              </a:rPr>
              <a:t>plan exports and a measured review.</a:t>
            </a:r>
          </a:p>
        </p:txBody>
      </p:sp>
      <p:sp>
        <p:nvSpPr>
          <p:cNvPr id="7" name="">
            <a:extLst xmlns:a="http://schemas.openxmlformats.org/drawingml/2006/main">
              <a:ext uri="{FF2B5EF4-FFF2-40B4-BE49-F238E27FC236}">
                <a16:creationId xmlns:a16="http://schemas.microsoft.com/office/drawing/2014/main" id="{06925DF1-5815-4946-AA4A-EADA1C979376}"/>
              </a:ext>
            </a:extLst>
          </p:cNvPr>
          <p:cNvSpPr>
            <a:spLocks xmlns:a="http://schemas.openxmlformats.org/drawingml/2006/main" noGrp="1"/>
          </p:cNvSpPr>
          <p:nvPr/>
        </p:nvSpPr>
        <p:spPr>
          <a:xfrm xmlns:a="http://schemas.openxmlformats.org/drawingml/2006/main">
            <a:off x="6667500" y="2133600"/>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006C59"/>
                </a:solidFill>
                <a:latin typeface="Helvetica Neue"/>
                <a:ea typeface="Helvetica Neue"/>
                <a:cs typeface="Helvetica Neue"/>
              </a:defRPr>
            </a:pPr>
            <a:r>
              <a:rPr sz="4650" b="1">
                <a:solidFill>
                  <a:srgbClr val="006C59"/>
                </a:solidFill>
                <a:latin typeface="Helvetica Neue"/>
                <a:ea typeface="Helvetica Neue"/>
                <a:cs typeface="Helvetica Neue"/>
              </a:rPr>
              <a:t>$6,000 / year</a:t>
            </a:r>
          </a:p>
        </p:txBody>
      </p:sp>
      <p:sp>
        <p:nvSpPr>
          <p:cNvPr id="8" name="">
            <a:extLst xmlns:a="http://schemas.openxmlformats.org/drawingml/2006/main">
              <a:ext uri="{FF2B5EF4-FFF2-40B4-BE49-F238E27FC236}">
                <a16:creationId xmlns:a16="http://schemas.microsoft.com/office/drawing/2014/main" id="{C663029D-0890-4202-A8A8-69BC90266F44}"/>
              </a:ext>
            </a:extLst>
          </p:cNvPr>
          <p:cNvSpPr>
            <a:spLocks xmlns:a="http://schemas.openxmlformats.org/drawingml/2006/main" noGrp="1"/>
          </p:cNvSpPr>
          <p:nvPr/>
        </p:nvSpPr>
        <p:spPr>
          <a:xfrm xmlns:a="http://schemas.openxmlformats.org/drawingml/2006/main">
            <a:off x="6667500" y="3114675"/>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02E36"/>
                </a:solidFill>
                <a:latin typeface="Helvetica Neue"/>
                <a:ea typeface="Helvetica Neue"/>
                <a:cs typeface="Helvetica Neue"/>
              </a:defRPr>
            </a:pPr>
            <a:r>
              <a:rPr sz="2325" b="1">
                <a:solidFill>
                  <a:srgbClr val="102E36"/>
                </a:solidFill>
                <a:latin typeface="Helvetica Neue"/>
                <a:ea typeface="Helvetica Neue"/>
                <a:cs typeface="Helvetica Neue"/>
              </a:rPr>
              <a:t>One venue, repeat events</a:t>
            </a:r>
          </a:p>
        </p:txBody>
      </p:sp>
      <p:sp>
        <p:nvSpPr>
          <p:cNvPr id="9" name="">
            <a:extLst xmlns:a="http://schemas.openxmlformats.org/drawingml/2006/main">
              <a:ext uri="{FF2B5EF4-FFF2-40B4-BE49-F238E27FC236}">
                <a16:creationId xmlns:a16="http://schemas.microsoft.com/office/drawing/2014/main" id="{BEC2106D-D668-44EE-9796-5000D92AA5FA}"/>
              </a:ext>
            </a:extLst>
          </p:cNvPr>
          <p:cNvSpPr>
            <a:spLocks xmlns:a="http://schemas.openxmlformats.org/drawingml/2006/main" noGrp="1"/>
          </p:cNvSpPr>
          <p:nvPr/>
        </p:nvSpPr>
        <p:spPr>
          <a:xfrm xmlns:a="http://schemas.openxmlformats.org/drawingml/2006/main">
            <a:off x="6667500" y="3867150"/>
            <a:ext cx="49434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4706F"/>
                </a:solidFill>
                <a:latin typeface="Helvetica Neue"/>
                <a:ea typeface="Helvetica Neue"/>
                <a:cs typeface="Helvetica Neue"/>
              </a:defRPr>
            </a:pPr>
            <a:r>
              <a:rPr sz="2025" b="0">
                <a:solidFill>
                  <a:srgbClr val="54706F"/>
                </a:solidFill>
                <a:latin typeface="Helvetica Neue"/>
                <a:ea typeface="Helvetica Neue"/>
                <a:cs typeface="Helvetica Neue"/>
              </a:rPr>
              <a:t>Test renewal after the pilot.</a:t>
            </a:r>
          </a:p>
          <a:p xmlns:a="http://schemas.openxmlformats.org/drawingml/2006/main">
            <a:pPr>
              <a:defRPr sz="2025" b="0">
                <a:solidFill>
                  <a:srgbClr val="54706F"/>
                </a:solidFill>
                <a:latin typeface="Helvetica Neue"/>
                <a:ea typeface="Helvetica Neue"/>
                <a:cs typeface="Helvetica Neue"/>
              </a:defRPr>
            </a:pPr>
            <a:r>
              <a:rPr sz="2025" b="0">
                <a:solidFill>
                  <a:srgbClr val="54706F"/>
                </a:solidFill>
                <a:latin typeface="Helvetica Neue"/>
                <a:ea typeface="Helvetica Neue"/>
                <a:cs typeface="Helvetica Neue"/>
              </a:rPr>
              <a:t>Hardware and installation are separate.</a:t>
            </a:r>
          </a:p>
        </p:txBody>
      </p:sp>
      <p:sp>
        <p:nvSpPr>
          <p:cNvPr id="10" name="">
            <a:extLst xmlns:a="http://schemas.openxmlformats.org/drawingml/2006/main">
              <a:ext uri="{FF2B5EF4-FFF2-40B4-BE49-F238E27FC236}">
                <a16:creationId xmlns:a16="http://schemas.microsoft.com/office/drawing/2014/main" id="{AF034201-15AC-4855-BD0D-8DF032ED5E2A}"/>
              </a:ext>
            </a:extLst>
          </p:cNvPr>
          <p:cNvSpPr>
            <a:spLocks xmlns:a="http://schemas.openxmlformats.org/drawingml/2006/main" noGrp="1"/>
          </p:cNvSpPr>
          <p:nvPr/>
        </p:nvSpPr>
        <p:spPr>
          <a:xfrm xmlns:a="http://schemas.openxmlformats.org/drawingml/2006/main">
            <a:off x="609600" y="5438775"/>
            <a:ext cx="10877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02E36"/>
                </a:solidFill>
                <a:latin typeface="Helvetica Neue"/>
                <a:ea typeface="Helvetica Neue"/>
                <a:cs typeface="Helvetica Neue"/>
              </a:defRPr>
            </a:pPr>
            <a:r>
              <a:rPr sz="1950" b="0">
                <a:solidFill>
                  <a:srgbClr val="102E36"/>
                </a:solidFill>
                <a:latin typeface="Helvetica Neue"/>
                <a:ea typeface="Helvetica Neue"/>
                <a:cs typeface="Helvetica Neue"/>
              </a:rPr>
              <a:t>Prices are hypotheses. Measure planning hours, accepted plans and repeat use before claiming commercial traction.</a:t>
            </a:r>
          </a:p>
        </p:txBody>
      </p:sp>
    </p:spTree>
    <p:extLst>
      <p:ext uri="{BB962C8B-B14F-4D97-AF65-F5344CB8AC3E}">
        <p14:creationId xmlns:p14="http://schemas.microsoft.com/office/powerpoint/2010/main" val="95526758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436E8C6-36EF-4780-975F-496DDA962629}"/>
              </a:ext>
            </a:extLst>
          </p:cNvPr>
          <p:cNvSpPr>
            <a:spLocks xmlns:a="http://schemas.openxmlformats.org/drawingml/2006/main" noGrp="1"/>
          </p:cNvSpPr>
          <p:nvPr/>
        </p:nvSpPr>
        <p:spPr>
          <a:xfrm xmlns:a="http://schemas.openxmlformats.org/drawingml/2006/main">
            <a:off x="609600" y="333375"/>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06C59"/>
                </a:solidFill>
                <a:latin typeface="Helvetica Neue"/>
                <a:ea typeface="Helvetica Neue"/>
                <a:cs typeface="Helvetica Neue"/>
              </a:defRPr>
            </a:pPr>
            <a:r>
              <a:rPr sz="1275" b="1">
                <a:solidFill>
                  <a:srgbClr val="006C59"/>
                </a:solidFill>
                <a:latin typeface="Helvetica Neue"/>
                <a:ea typeface="Helvetica Neue"/>
                <a:cs typeface="Helvetica Neue"/>
              </a:rPr>
              <a:t>SHADE SHIFT   /   THE LEGACY</a:t>
            </a:r>
          </a:p>
        </p:txBody>
      </p:sp>
      <p:sp>
        <p:nvSpPr>
          <p:cNvPr id="2" name="">
            <a:extLst xmlns:a="http://schemas.openxmlformats.org/drawingml/2006/main">
              <a:ext uri="{FF2B5EF4-FFF2-40B4-BE49-F238E27FC236}">
                <a16:creationId xmlns:a16="http://schemas.microsoft.com/office/drawing/2014/main" id="{254CFFBC-7338-42D5-A707-A2580ED0C40B}"/>
              </a:ext>
            </a:extLst>
          </p:cNvPr>
          <p:cNvSpPr>
            <a:spLocks xmlns:a="http://schemas.openxmlformats.org/drawingml/2006/main" noGrp="1"/>
          </p:cNvSpPr>
          <p:nvPr/>
        </p:nvSpPr>
        <p:spPr>
          <a:xfrm xmlns:a="http://schemas.openxmlformats.org/drawingml/2006/main">
            <a:off x="609600" y="914400"/>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102E36"/>
                </a:solidFill>
                <a:latin typeface="Helvetica Neue"/>
                <a:ea typeface="Helvetica Neue"/>
                <a:cs typeface="Helvetica Neue"/>
              </a:defRPr>
            </a:pPr>
            <a:r>
              <a:rPr sz="3525" b="1">
                <a:solidFill>
                  <a:srgbClr val="102E36"/>
                </a:solidFill>
                <a:latin typeface="Helvetica Neue"/>
                <a:ea typeface="Helvetica Neue"/>
                <a:cs typeface="Helvetica Neue"/>
              </a:rPr>
              <a:t>One venue. Two events. A reuse plan.</a:t>
            </a:r>
          </a:p>
        </p:txBody>
      </p:sp>
      <p:sp>
        <p:nvSpPr>
          <p:cNvPr id="3" name="">
            <a:extLst xmlns:a="http://schemas.openxmlformats.org/drawingml/2006/main">
              <a:ext uri="{FF2B5EF4-FFF2-40B4-BE49-F238E27FC236}">
                <a16:creationId xmlns:a16="http://schemas.microsoft.com/office/drawing/2014/main" id="{9ECBF213-E012-4843-855B-C02558212CE3}"/>
              </a:ext>
            </a:extLst>
          </p:cNvPr>
          <p:cNvSpPr>
            <a:spLocks xmlns:a="http://schemas.openxmlformats.org/drawingml/2006/main" noGrp="1"/>
          </p:cNvSpPr>
          <p:nvPr/>
        </p:nvSpPr>
        <p:spPr>
          <a:xfrm xmlns:a="http://schemas.openxmlformats.org/drawingml/2006/main">
            <a:off x="609600" y="6457950"/>
            <a:ext cx="1095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4706F"/>
                </a:solidFill>
                <a:latin typeface="Helvetica Neue"/>
                <a:ea typeface="Helvetica Neue"/>
                <a:cs typeface="Helvetica Neue"/>
              </a:defRPr>
            </a:pPr>
            <a:r>
              <a:rPr sz="975" b="0">
                <a:solidFill>
                  <a:srgbClr val="54706F"/>
                </a:solidFill>
                <a:latin typeface="Helvetica Neue"/>
                <a:ea typeface="Helvetica Neue"/>
                <a:cs typeface="Helvetica Neue"/>
              </a:rPr>
              <a:t>07   /   RICE URBAN SUSTAINABILITY HACKATHON · TRACK 3</a:t>
            </a:r>
          </a:p>
        </p:txBody>
      </p:sp>
      <p:sp>
        <p:nvSpPr>
          <p:cNvPr id="4" name="">
            <a:extLst xmlns:a="http://schemas.openxmlformats.org/drawingml/2006/main">
              <a:ext uri="{FF2B5EF4-FFF2-40B4-BE49-F238E27FC236}">
                <a16:creationId xmlns:a16="http://schemas.microsoft.com/office/drawing/2014/main" id="{06FCCD79-2B77-4F7A-A2B4-1327A7DAE459}"/>
              </a:ext>
            </a:extLst>
          </p:cNvPr>
          <p:cNvSpPr>
            <a:spLocks xmlns:a="http://schemas.openxmlformats.org/drawingml/2006/main" noGrp="1"/>
          </p:cNvSpPr>
          <p:nvPr/>
        </p:nvSpPr>
        <p:spPr>
          <a:xfrm xmlns:a="http://schemas.openxmlformats.org/drawingml/2006/main">
            <a:off x="609600" y="2200275"/>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59"/>
                </a:solidFill>
                <a:latin typeface="Helvetica Neue"/>
                <a:ea typeface="Helvetica Neue"/>
                <a:cs typeface="Helvetica Neue"/>
              </a:defRPr>
            </a:pPr>
            <a:r>
              <a:rPr sz="2325" b="1">
                <a:solidFill>
                  <a:srgbClr val="006C59"/>
                </a:solidFill>
                <a:latin typeface="Helvetica Neue"/>
                <a:ea typeface="Helvetica Neue"/>
                <a:cs typeface="Helvetica Neue"/>
              </a:rPr>
              <a:t>Days 1–30</a:t>
            </a:r>
          </a:p>
        </p:txBody>
      </p:sp>
      <p:sp>
        <p:nvSpPr>
          <p:cNvPr id="5" name="">
            <a:extLst xmlns:a="http://schemas.openxmlformats.org/drawingml/2006/main">
              <a:ext uri="{FF2B5EF4-FFF2-40B4-BE49-F238E27FC236}">
                <a16:creationId xmlns:a16="http://schemas.microsoft.com/office/drawing/2014/main" id="{602887A7-894E-4457-835B-CCFC3DBB2D54}"/>
              </a:ext>
            </a:extLst>
          </p:cNvPr>
          <p:cNvSpPr>
            <a:spLocks xmlns:a="http://schemas.openxmlformats.org/drawingml/2006/main" noGrp="1"/>
          </p:cNvSpPr>
          <p:nvPr/>
        </p:nvSpPr>
        <p:spPr>
          <a:xfrm xmlns:a="http://schemas.openxmlformats.org/drawingml/2006/main">
            <a:off x="609600" y="291465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02E36"/>
                </a:solidFill>
                <a:latin typeface="Helvetica Neue"/>
                <a:ea typeface="Helvetica Neue"/>
                <a:cs typeface="Helvetica Neue"/>
              </a:defRPr>
            </a:pPr>
            <a:r>
              <a:rPr sz="2400" b="1">
                <a:solidFill>
                  <a:srgbClr val="102E36"/>
                </a:solidFill>
                <a:latin typeface="Helvetica Neue"/>
                <a:ea typeface="Helvetica Neue"/>
                <a:cs typeface="Helvetica Neue"/>
              </a:rPr>
              <a:t>Walk the sites</a:t>
            </a:r>
          </a:p>
        </p:txBody>
      </p:sp>
      <p:sp>
        <p:nvSpPr>
          <p:cNvPr id="6" name="">
            <a:extLst xmlns:a="http://schemas.openxmlformats.org/drawingml/2006/main">
              <a:ext uri="{FF2B5EF4-FFF2-40B4-BE49-F238E27FC236}">
                <a16:creationId xmlns:a16="http://schemas.microsoft.com/office/drawing/2014/main" id="{2E60FDB9-AEC0-401B-B873-16788865C212}"/>
              </a:ext>
            </a:extLst>
          </p:cNvPr>
          <p:cNvSpPr>
            <a:spLocks xmlns:a="http://schemas.openxmlformats.org/drawingml/2006/main" noGrp="1"/>
          </p:cNvSpPr>
          <p:nvPr/>
        </p:nvSpPr>
        <p:spPr>
          <a:xfrm xmlns:a="http://schemas.openxmlformats.org/drawingml/2006/main">
            <a:off x="609600" y="3562350"/>
            <a:ext cx="3124200"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4706F"/>
                </a:solidFill>
                <a:latin typeface="Helvetica Neue"/>
                <a:ea typeface="Helvetica Neue"/>
                <a:cs typeface="Helvetica Neue"/>
              </a:defRPr>
            </a:pPr>
            <a:r>
              <a:rPr sz="1950" b="0">
                <a:solidFill>
                  <a:srgbClr val="54706F"/>
                </a:solidFill>
                <a:latin typeface="Helvetica Neue"/>
                <a:ea typeface="Helvetica Neue"/>
                <a:cs typeface="Helvetica Neue"/>
              </a:rPr>
              <a:t>Verify access and shade.</a:t>
            </a:r>
          </a:p>
          <a:p xmlns:a="http://schemas.openxmlformats.org/drawingml/2006/main">
            <a:pPr>
              <a:defRPr sz="1950" b="0">
                <a:solidFill>
                  <a:srgbClr val="54706F"/>
                </a:solidFill>
                <a:latin typeface="Helvetica Neue"/>
                <a:ea typeface="Helvetica Neue"/>
                <a:cs typeface="Helvetica Neue"/>
              </a:defRPr>
            </a:pPr>
            <a:r>
              <a:rPr sz="1950" b="0">
                <a:solidFill>
                  <a:srgbClr val="54706F"/>
                </a:solidFill>
                <a:latin typeface="Helvetica Neue"/>
                <a:ea typeface="Helvetica Neue"/>
                <a:cs typeface="Helvetica Neue"/>
              </a:rPr>
              <a:t>Measure counts and</a:t>
            </a:r>
          </a:p>
          <a:p xmlns:a="http://schemas.openxmlformats.org/drawingml/2006/main">
            <a:pPr>
              <a:defRPr sz="1950" b="0">
                <a:solidFill>
                  <a:srgbClr val="54706F"/>
                </a:solidFill>
                <a:latin typeface="Helvetica Neue"/>
                <a:ea typeface="Helvetica Neue"/>
                <a:cs typeface="Helvetica Neue"/>
              </a:defRPr>
            </a:pPr>
            <a:r>
              <a:rPr sz="1950" b="0">
                <a:solidFill>
                  <a:srgbClr val="54706F"/>
                </a:solidFill>
                <a:latin typeface="Helvetica Neue"/>
                <a:ea typeface="Helvetica Neue"/>
                <a:cs typeface="Helvetica Neue"/>
              </a:rPr>
              <a:t>queue times.</a:t>
            </a:r>
          </a:p>
          <a:p xmlns:a="http://schemas.openxmlformats.org/drawingml/2006/main">
            <a:pPr>
              <a:defRPr sz="1950" b="0">
                <a:solidFill>
                  <a:srgbClr val="54706F"/>
                </a:solidFill>
                <a:latin typeface="Helvetica Neue"/>
                <a:ea typeface="Helvetica Neue"/>
                <a:cs typeface="Helvetica Neue"/>
              </a:defRPr>
            </a:pPr>
            <a:r>
              <a:rPr sz="1950" b="0">
                <a:solidFill>
                  <a:srgbClr val="54706F"/>
                </a:solidFill>
                <a:latin typeface="Helvetica Neue"/>
                <a:ea typeface="Helvetica Neue"/>
                <a:cs typeface="Helvetica Neue"/>
              </a:rPr>
              <a:t>Obtain supplier quotes.</a:t>
            </a:r>
          </a:p>
        </p:txBody>
      </p:sp>
      <p:sp>
        <p:nvSpPr>
          <p:cNvPr id="7" name="">
            <a:extLst xmlns:a="http://schemas.openxmlformats.org/drawingml/2006/main">
              <a:ext uri="{FF2B5EF4-FFF2-40B4-BE49-F238E27FC236}">
                <a16:creationId xmlns:a16="http://schemas.microsoft.com/office/drawing/2014/main" id="{4B77F0EF-AEC4-494A-99C1-B8392833BEC1}"/>
              </a:ext>
            </a:extLst>
          </p:cNvPr>
          <p:cNvSpPr>
            <a:spLocks xmlns:a="http://schemas.openxmlformats.org/drawingml/2006/main" noGrp="1"/>
          </p:cNvSpPr>
          <p:nvPr/>
        </p:nvSpPr>
        <p:spPr>
          <a:xfrm xmlns:a="http://schemas.openxmlformats.org/drawingml/2006/main">
            <a:off x="4295775" y="2200275"/>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59"/>
                </a:solidFill>
                <a:latin typeface="Helvetica Neue"/>
                <a:ea typeface="Helvetica Neue"/>
                <a:cs typeface="Helvetica Neue"/>
              </a:defRPr>
            </a:pPr>
            <a:r>
              <a:rPr sz="2325" b="1">
                <a:solidFill>
                  <a:srgbClr val="006C59"/>
                </a:solidFill>
                <a:latin typeface="Helvetica Neue"/>
                <a:ea typeface="Helvetica Neue"/>
                <a:cs typeface="Helvetica Neue"/>
              </a:rPr>
              <a:t>Days 31–60</a:t>
            </a:r>
          </a:p>
        </p:txBody>
      </p:sp>
      <p:sp>
        <p:nvSpPr>
          <p:cNvPr id="8" name="">
            <a:extLst xmlns:a="http://schemas.openxmlformats.org/drawingml/2006/main">
              <a:ext uri="{FF2B5EF4-FFF2-40B4-BE49-F238E27FC236}">
                <a16:creationId xmlns:a16="http://schemas.microsoft.com/office/drawing/2014/main" id="{C1E2E535-A01F-4B8A-8D18-B0A93639D1A6}"/>
              </a:ext>
            </a:extLst>
          </p:cNvPr>
          <p:cNvSpPr>
            <a:spLocks xmlns:a="http://schemas.openxmlformats.org/drawingml/2006/main" noGrp="1"/>
          </p:cNvSpPr>
          <p:nvPr/>
        </p:nvSpPr>
        <p:spPr>
          <a:xfrm xmlns:a="http://schemas.openxmlformats.org/drawingml/2006/main">
            <a:off x="4295775" y="291465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02E36"/>
                </a:solidFill>
                <a:latin typeface="Helvetica Neue"/>
                <a:ea typeface="Helvetica Neue"/>
                <a:cs typeface="Helvetica Neue"/>
              </a:defRPr>
            </a:pPr>
            <a:r>
              <a:rPr sz="2400" b="1">
                <a:solidFill>
                  <a:srgbClr val="102E36"/>
                </a:solidFill>
                <a:latin typeface="Helvetica Neue"/>
                <a:ea typeface="Helvetica Neue"/>
                <a:cs typeface="Helvetica Neue"/>
              </a:rPr>
              <a:t>Run event one</a:t>
            </a:r>
          </a:p>
        </p:txBody>
      </p:sp>
      <p:sp>
        <p:nvSpPr>
          <p:cNvPr id="9" name="">
            <a:extLst xmlns:a="http://schemas.openxmlformats.org/drawingml/2006/main">
              <a:ext uri="{FF2B5EF4-FFF2-40B4-BE49-F238E27FC236}">
                <a16:creationId xmlns:a16="http://schemas.microsoft.com/office/drawing/2014/main" id="{853121F2-DE3B-4FEF-82F6-9B88D86C2B49}"/>
              </a:ext>
            </a:extLst>
          </p:cNvPr>
          <p:cNvSpPr>
            <a:spLocks xmlns:a="http://schemas.openxmlformats.org/drawingml/2006/main" noGrp="1"/>
          </p:cNvSpPr>
          <p:nvPr/>
        </p:nvSpPr>
        <p:spPr>
          <a:xfrm xmlns:a="http://schemas.openxmlformats.org/drawingml/2006/main">
            <a:off x="4295775" y="3562350"/>
            <a:ext cx="3124200"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4706F"/>
                </a:solidFill>
                <a:latin typeface="Helvetica Neue"/>
                <a:ea typeface="Helvetica Neue"/>
                <a:cs typeface="Helvetica Neue"/>
              </a:defRPr>
            </a:pPr>
            <a:r>
              <a:rPr sz="1950" b="0">
                <a:solidFill>
                  <a:srgbClr val="54706F"/>
                </a:solidFill>
                <a:latin typeface="Helvetica Neue"/>
                <a:ea typeface="Helvetica Neue"/>
                <a:cs typeface="Helvetica Neue"/>
              </a:rPr>
              <a:t>Obtain operator approval.</a:t>
            </a:r>
          </a:p>
          <a:p xmlns:a="http://schemas.openxmlformats.org/drawingml/2006/main">
            <a:pPr>
              <a:defRPr sz="1950" b="0">
                <a:solidFill>
                  <a:srgbClr val="54706F"/>
                </a:solidFill>
                <a:latin typeface="Helvetica Neue"/>
                <a:ea typeface="Helvetica Neue"/>
                <a:cs typeface="Helvetica Neue"/>
              </a:defRPr>
            </a:pPr>
            <a:r>
              <a:rPr sz="1950" b="0">
                <a:solidFill>
                  <a:srgbClr val="54706F"/>
                </a:solidFill>
                <a:latin typeface="Helvetica Neue"/>
                <a:ea typeface="Helvetica Neue"/>
                <a:cs typeface="Helvetica Neue"/>
              </a:rPr>
              <a:t>Compare the plan with</a:t>
            </a:r>
          </a:p>
          <a:p xmlns:a="http://schemas.openxmlformats.org/drawingml/2006/main">
            <a:pPr>
              <a:defRPr sz="1950" b="0">
                <a:solidFill>
                  <a:srgbClr val="54706F"/>
                </a:solidFill>
                <a:latin typeface="Helvetica Neue"/>
                <a:ea typeface="Helvetica Neue"/>
                <a:cs typeface="Helvetica Neue"/>
              </a:defRPr>
            </a:pPr>
            <a:r>
              <a:rPr sz="1950" b="0">
                <a:solidFill>
                  <a:srgbClr val="54706F"/>
                </a:solidFill>
                <a:latin typeface="Helvetica Neue"/>
                <a:ea typeface="Helvetica Neue"/>
                <a:cs typeface="Helvetica Neue"/>
              </a:rPr>
              <a:t>observed exposed time</a:t>
            </a:r>
          </a:p>
          <a:p xmlns:a="http://schemas.openxmlformats.org/drawingml/2006/main">
            <a:pPr>
              <a:defRPr sz="1950" b="0">
                <a:solidFill>
                  <a:srgbClr val="54706F"/>
                </a:solidFill>
                <a:latin typeface="Helvetica Neue"/>
                <a:ea typeface="Helvetica Neue"/>
                <a:cs typeface="Helvetica Neue"/>
              </a:defRPr>
            </a:pPr>
            <a:r>
              <a:rPr sz="1950" b="0">
                <a:solidFill>
                  <a:srgbClr val="54706F"/>
                </a:solidFill>
                <a:latin typeface="Helvetica Neue"/>
                <a:ea typeface="Helvetica Neue"/>
                <a:cs typeface="Helvetica Neue"/>
              </a:rPr>
              <a:t>and planning hours.</a:t>
            </a:r>
          </a:p>
        </p:txBody>
      </p:sp>
      <p:sp>
        <p:nvSpPr>
          <p:cNvPr id="10" name="">
            <a:extLst xmlns:a="http://schemas.openxmlformats.org/drawingml/2006/main">
              <a:ext uri="{FF2B5EF4-FFF2-40B4-BE49-F238E27FC236}">
                <a16:creationId xmlns:a16="http://schemas.microsoft.com/office/drawing/2014/main" id="{D0044F84-BA0C-417B-90A1-40F881D9A308}"/>
              </a:ext>
            </a:extLst>
          </p:cNvPr>
          <p:cNvSpPr>
            <a:spLocks xmlns:a="http://schemas.openxmlformats.org/drawingml/2006/main" noGrp="1"/>
          </p:cNvSpPr>
          <p:nvPr/>
        </p:nvSpPr>
        <p:spPr>
          <a:xfrm xmlns:a="http://schemas.openxmlformats.org/drawingml/2006/main">
            <a:off x="7981950" y="2200275"/>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59"/>
                </a:solidFill>
                <a:latin typeface="Helvetica Neue"/>
                <a:ea typeface="Helvetica Neue"/>
                <a:cs typeface="Helvetica Neue"/>
              </a:defRPr>
            </a:pPr>
            <a:r>
              <a:rPr sz="2325" b="1">
                <a:solidFill>
                  <a:srgbClr val="006C59"/>
                </a:solidFill>
                <a:latin typeface="Helvetica Neue"/>
                <a:ea typeface="Helvetica Neue"/>
                <a:cs typeface="Helvetica Neue"/>
              </a:rPr>
              <a:t>Days 61–90</a:t>
            </a:r>
          </a:p>
        </p:txBody>
      </p:sp>
      <p:sp>
        <p:nvSpPr>
          <p:cNvPr id="11" name="">
            <a:extLst xmlns:a="http://schemas.openxmlformats.org/drawingml/2006/main">
              <a:ext uri="{FF2B5EF4-FFF2-40B4-BE49-F238E27FC236}">
                <a16:creationId xmlns:a16="http://schemas.microsoft.com/office/drawing/2014/main" id="{58C88CEA-447F-4E89-994F-136C80871DBB}"/>
              </a:ext>
            </a:extLst>
          </p:cNvPr>
          <p:cNvSpPr>
            <a:spLocks xmlns:a="http://schemas.openxmlformats.org/drawingml/2006/main" noGrp="1"/>
          </p:cNvSpPr>
          <p:nvPr/>
        </p:nvSpPr>
        <p:spPr>
          <a:xfrm xmlns:a="http://schemas.openxmlformats.org/drawingml/2006/main">
            <a:off x="7981950" y="2914650"/>
            <a:ext cx="3409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02E36"/>
                </a:solidFill>
                <a:latin typeface="Helvetica Neue"/>
                <a:ea typeface="Helvetica Neue"/>
                <a:cs typeface="Helvetica Neue"/>
              </a:defRPr>
            </a:pPr>
            <a:r>
              <a:rPr sz="2400" b="1">
                <a:solidFill>
                  <a:srgbClr val="102E36"/>
                </a:solidFill>
                <a:latin typeface="Helvetica Neue"/>
                <a:ea typeface="Helvetica Neue"/>
                <a:cs typeface="Helvetica Neue"/>
              </a:rPr>
              <a:t>Reuse and review</a:t>
            </a:r>
          </a:p>
        </p:txBody>
      </p:sp>
      <p:sp>
        <p:nvSpPr>
          <p:cNvPr id="12" name="">
            <a:extLst xmlns:a="http://schemas.openxmlformats.org/drawingml/2006/main">
              <a:ext uri="{FF2B5EF4-FFF2-40B4-BE49-F238E27FC236}">
                <a16:creationId xmlns:a16="http://schemas.microsoft.com/office/drawing/2014/main" id="{463F882B-F865-428C-8F60-4ED38BDB697B}"/>
              </a:ext>
            </a:extLst>
          </p:cNvPr>
          <p:cNvSpPr>
            <a:spLocks xmlns:a="http://schemas.openxmlformats.org/drawingml/2006/main" noGrp="1"/>
          </p:cNvSpPr>
          <p:nvPr/>
        </p:nvSpPr>
        <p:spPr>
          <a:xfrm xmlns:a="http://schemas.openxmlformats.org/drawingml/2006/main">
            <a:off x="7981950" y="3562350"/>
            <a:ext cx="3400425"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4706F"/>
                </a:solidFill>
                <a:latin typeface="Helvetica Neue"/>
                <a:ea typeface="Helvetica Neue"/>
                <a:cs typeface="Helvetica Neue"/>
              </a:defRPr>
            </a:pPr>
            <a:r>
              <a:rPr sz="1950" b="0">
                <a:solidFill>
                  <a:srgbClr val="54706F"/>
                </a:solidFill>
                <a:latin typeface="Helvetica Neue"/>
                <a:ea typeface="Helvetica Neue"/>
                <a:cs typeface="Helvetica Neue"/>
              </a:rPr>
              <a:t>Run the second event.</a:t>
            </a:r>
          </a:p>
          <a:p xmlns:a="http://schemas.openxmlformats.org/drawingml/2006/main">
            <a:pPr>
              <a:defRPr sz="1950" b="0">
                <a:solidFill>
                  <a:srgbClr val="54706F"/>
                </a:solidFill>
                <a:latin typeface="Helvetica Neue"/>
                <a:ea typeface="Helvetica Neue"/>
                <a:cs typeface="Helvetica Neue"/>
              </a:defRPr>
            </a:pPr>
            <a:r>
              <a:rPr sz="1950" b="0">
                <a:solidFill>
                  <a:srgbClr val="54706F"/>
                </a:solidFill>
                <a:latin typeface="Helvetica Neue"/>
                <a:ea typeface="Helvetica Neue"/>
                <a:cs typeface="Helvetica Neue"/>
              </a:rPr>
              <a:t>Assign asset ownership.</a:t>
            </a:r>
          </a:p>
          <a:p xmlns:a="http://schemas.openxmlformats.org/drawingml/2006/main">
            <a:pPr>
              <a:defRPr sz="1950" b="0">
                <a:solidFill>
                  <a:srgbClr val="54706F"/>
                </a:solidFill>
                <a:latin typeface="Helvetica Neue"/>
                <a:ea typeface="Helvetica Neue"/>
                <a:cs typeface="Helvetica Neue"/>
              </a:defRPr>
            </a:pPr>
            <a:r>
              <a:rPr sz="1950" b="0">
                <a:solidFill>
                  <a:srgbClr val="54706F"/>
                </a:solidFill>
                <a:latin typeface="Helvetica Neue"/>
                <a:ea typeface="Helvetica Neue"/>
                <a:cs typeface="Helvetica Neue"/>
              </a:rPr>
              <a:t>Test community reuse</a:t>
            </a:r>
          </a:p>
          <a:p xmlns:a="http://schemas.openxmlformats.org/drawingml/2006/main">
            <a:pPr>
              <a:defRPr sz="1950" b="0">
                <a:solidFill>
                  <a:srgbClr val="54706F"/>
                </a:solidFill>
                <a:latin typeface="Helvetica Neue"/>
                <a:ea typeface="Helvetica Neue"/>
                <a:cs typeface="Helvetica Neue"/>
              </a:defRPr>
            </a:pPr>
            <a:r>
              <a:rPr sz="1950" b="0">
                <a:solidFill>
                  <a:srgbClr val="54706F"/>
                </a:solidFill>
                <a:latin typeface="Helvetica Neue"/>
                <a:ea typeface="Helvetica Neue"/>
                <a:cs typeface="Helvetica Neue"/>
              </a:rPr>
              <a:t>and renewal.</a:t>
            </a:r>
          </a:p>
        </p:txBody>
      </p:sp>
      <p:sp>
        <p:nvSpPr>
          <p:cNvPr id="13" name="">
            <a:extLst xmlns:a="http://schemas.openxmlformats.org/drawingml/2006/main">
              <a:ext uri="{FF2B5EF4-FFF2-40B4-BE49-F238E27FC236}">
                <a16:creationId xmlns:a16="http://schemas.microsoft.com/office/drawing/2014/main" id="{11F82B91-B6A7-43A2-AC1B-FE93F8C8924B}"/>
              </a:ext>
            </a:extLst>
          </p:cNvPr>
          <p:cNvSpPr>
            <a:spLocks xmlns:a="http://schemas.openxmlformats.org/drawingml/2006/main" noGrp="1"/>
          </p:cNvSpPr>
          <p:nvPr/>
        </p:nvSpPr>
        <p:spPr>
          <a:xfrm xmlns:a="http://schemas.openxmlformats.org/drawingml/2006/main">
            <a:off x="609600" y="565785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02E36"/>
                </a:solidFill>
                <a:latin typeface="Helvetica Neue"/>
                <a:ea typeface="Helvetica Neue"/>
                <a:cs typeface="Helvetica Neue"/>
              </a:defRPr>
            </a:pPr>
            <a:r>
              <a:rPr sz="1725" b="0">
                <a:solidFill>
                  <a:srgbClr val="102E36"/>
                </a:solidFill>
                <a:latin typeface="Helvetica Neue"/>
                <a:ea typeface="Helvetica Neue"/>
                <a:cs typeface="Helvetica Neue"/>
              </a:rPr>
              <a:t>Legacy estimates use separate resident demand and reuse days. No automatic annualization of event attendance.</a:t>
            </a:r>
          </a:p>
        </p:txBody>
      </p:sp>
    </p:spTree>
    <p:extLst>
      <p:ext uri="{BB962C8B-B14F-4D97-AF65-F5344CB8AC3E}">
        <p14:creationId xmlns:p14="http://schemas.microsoft.com/office/powerpoint/2010/main" val="1995717022"/>
      </p:ext>
    </p:extLst>
  </p:cSld>
</p:sld>
</file>

<file path=ppt/slides/slide8.xml><?xml version="1.0" encoding="utf-8"?>
<p:sld xmlns:p="http://schemas.openxmlformats.org/presentationml/2006/main">
  <p:cSld>
    <p:bg>
      <p:bgPr>
        <a:solidFill xmlns:a="http://schemas.openxmlformats.org/drawingml/2006/main">
          <a:srgbClr val="102E3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5357716-DE0C-473F-8DFD-D52A5D3439BA}"/>
              </a:ext>
            </a:extLst>
          </p:cNvPr>
          <p:cNvSpPr>
            <a:spLocks xmlns:a="http://schemas.openxmlformats.org/drawingml/2006/main" noGrp="1"/>
          </p:cNvSpPr>
          <p:nvPr/>
        </p:nvSpPr>
        <p:spPr>
          <a:xfrm xmlns:a="http://schemas.openxmlformats.org/drawingml/2006/main">
            <a:off x="609600" y="333375"/>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D1F36D"/>
                </a:solidFill>
                <a:latin typeface="Helvetica Neue"/>
                <a:ea typeface="Helvetica Neue"/>
                <a:cs typeface="Helvetica Neue"/>
              </a:defRPr>
            </a:pPr>
            <a:r>
              <a:rPr sz="1275" b="1">
                <a:solidFill>
                  <a:srgbClr val="D1F36D"/>
                </a:solidFill>
                <a:latin typeface="Helvetica Neue"/>
                <a:ea typeface="Helvetica Neue"/>
                <a:cs typeface="Helvetica Neue"/>
              </a:rPr>
              <a:t>SHADE SHIFT   /   THE ASK</a:t>
            </a:r>
          </a:p>
        </p:txBody>
      </p:sp>
      <p:sp>
        <p:nvSpPr>
          <p:cNvPr id="2" name="">
            <a:extLst xmlns:a="http://schemas.openxmlformats.org/drawingml/2006/main">
              <a:ext uri="{FF2B5EF4-FFF2-40B4-BE49-F238E27FC236}">
                <a16:creationId xmlns:a16="http://schemas.microsoft.com/office/drawing/2014/main" id="{DD879375-1D9D-4A40-8C25-FA0AFBE40D16}"/>
              </a:ext>
            </a:extLst>
          </p:cNvPr>
          <p:cNvSpPr>
            <a:spLocks xmlns:a="http://schemas.openxmlformats.org/drawingml/2006/main" noGrp="1"/>
          </p:cNvSpPr>
          <p:nvPr/>
        </p:nvSpPr>
        <p:spPr>
          <a:xfrm xmlns:a="http://schemas.openxmlformats.org/drawingml/2006/main">
            <a:off x="609600" y="6457950"/>
            <a:ext cx="1095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B7C8C1"/>
                </a:solidFill>
                <a:latin typeface="Helvetica Neue"/>
                <a:ea typeface="Helvetica Neue"/>
                <a:cs typeface="Helvetica Neue"/>
              </a:defRPr>
            </a:pPr>
            <a:r>
              <a:rPr sz="975" b="0">
                <a:solidFill>
                  <a:srgbClr val="B7C8C1"/>
                </a:solidFill>
                <a:latin typeface="Helvetica Neue"/>
                <a:ea typeface="Helvetica Neue"/>
                <a:cs typeface="Helvetica Neue"/>
              </a:rPr>
              <a:t>08   /   RICE URBAN SUSTAINABILITY HACKATHON · TRACK 3</a:t>
            </a:r>
          </a:p>
        </p:txBody>
      </p:sp>
      <p:sp>
        <p:nvSpPr>
          <p:cNvPr id="3" name="">
            <a:extLst xmlns:a="http://schemas.openxmlformats.org/drawingml/2006/main">
              <a:ext uri="{FF2B5EF4-FFF2-40B4-BE49-F238E27FC236}">
                <a16:creationId xmlns:a16="http://schemas.microsoft.com/office/drawing/2014/main" id="{F900A225-9B60-4CBD-B496-B63A53E8DACA}"/>
              </a:ext>
            </a:extLst>
          </p:cNvPr>
          <p:cNvSpPr>
            <a:spLocks xmlns:a="http://schemas.openxmlformats.org/drawingml/2006/main" noGrp="1"/>
          </p:cNvSpPr>
          <p:nvPr/>
        </p:nvSpPr>
        <p:spPr>
          <a:xfrm xmlns:a="http://schemas.openxmlformats.org/drawingml/2006/main">
            <a:off x="609600" y="1476375"/>
            <a:ext cx="10858500" cy="181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FFFFFF"/>
                </a:solidFill>
                <a:latin typeface="Helvetica Neue"/>
                <a:ea typeface="Helvetica Neue"/>
                <a:cs typeface="Helvetica Neue"/>
              </a:defRPr>
            </a:pPr>
            <a:r>
              <a:rPr sz="5700" b="1">
                <a:solidFill>
                  <a:srgbClr val="FFFFFF"/>
                </a:solidFill>
                <a:latin typeface="Helvetica Neue"/>
                <a:ea typeface="Helvetica Neue"/>
                <a:cs typeface="Helvetica Neue"/>
              </a:rPr>
              <a:t>One venue partner.</a:t>
            </a:r>
          </a:p>
          <a:p xmlns:a="http://schemas.openxmlformats.org/drawingml/2006/main">
            <a:pPr>
              <a:defRPr sz="5700" b="1">
                <a:solidFill>
                  <a:srgbClr val="FFFFFF"/>
                </a:solidFill>
                <a:latin typeface="Helvetica Neue"/>
                <a:ea typeface="Helvetica Neue"/>
                <a:cs typeface="Helvetica Neue"/>
              </a:defRPr>
            </a:pPr>
            <a:r>
              <a:rPr sz="5700" b="1">
                <a:solidFill>
                  <a:srgbClr val="FFFFFF"/>
                </a:solidFill>
                <a:latin typeface="Helvetica Neue"/>
                <a:ea typeface="Helvetica Neue"/>
                <a:cs typeface="Helvetica Neue"/>
              </a:rPr>
              <a:t>Two events.</a:t>
            </a:r>
          </a:p>
        </p:txBody>
      </p:sp>
      <p:sp>
        <p:nvSpPr>
          <p:cNvPr id="4" name="">
            <a:extLst xmlns:a="http://schemas.openxmlformats.org/drawingml/2006/main">
              <a:ext uri="{FF2B5EF4-FFF2-40B4-BE49-F238E27FC236}">
                <a16:creationId xmlns:a16="http://schemas.microsoft.com/office/drawing/2014/main" id="{90A9C9B9-AFF1-46C3-90FE-5A0F897E55A3}"/>
              </a:ext>
            </a:extLst>
          </p:cNvPr>
          <p:cNvSpPr>
            <a:spLocks xmlns:a="http://schemas.openxmlformats.org/drawingml/2006/main" noGrp="1"/>
          </p:cNvSpPr>
          <p:nvPr/>
        </p:nvSpPr>
        <p:spPr>
          <a:xfrm xmlns:a="http://schemas.openxmlformats.org/drawingml/2006/main">
            <a:off x="609600" y="3657600"/>
            <a:ext cx="10744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D1F36D"/>
                </a:solidFill>
                <a:latin typeface="Helvetica Neue"/>
                <a:ea typeface="Helvetica Neue"/>
                <a:cs typeface="Helvetica Neue"/>
              </a:defRPr>
            </a:pPr>
            <a:r>
              <a:rPr sz="3000" b="1">
                <a:solidFill>
                  <a:srgbClr val="D1F36D"/>
                </a:solidFill>
                <a:latin typeface="Helvetica Neue"/>
                <a:ea typeface="Helvetica Neue"/>
                <a:cs typeface="Helvetica Neue"/>
              </a:rPr>
              <a:t>A plan we can verify on the ground.</a:t>
            </a:r>
          </a:p>
        </p:txBody>
      </p:sp>
      <p:sp>
        <p:nvSpPr>
          <p:cNvPr id="5" name="">
            <a:extLst xmlns:a="http://schemas.openxmlformats.org/drawingml/2006/main">
              <a:ext uri="{FF2B5EF4-FFF2-40B4-BE49-F238E27FC236}">
                <a16:creationId xmlns:a16="http://schemas.microsoft.com/office/drawing/2014/main" id="{3331B4C2-5D24-4D2F-B3AD-8A0E378EF260}"/>
              </a:ext>
            </a:extLst>
          </p:cNvPr>
          <p:cNvSpPr>
            <a:spLocks xmlns:a="http://schemas.openxmlformats.org/drawingml/2006/main" noGrp="1"/>
          </p:cNvSpPr>
          <p:nvPr/>
        </p:nvSpPr>
        <p:spPr>
          <a:xfrm xmlns:a="http://schemas.openxmlformats.org/drawingml/2006/main">
            <a:off x="609600" y="461010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Provide site access and operator counts.</a:t>
            </a:r>
          </a:p>
          <a:p xmlns:a="http://schemas.openxmlformats.org/drawingml/2006/main">
            <a:pPr>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We test the inputs, planning value and repeat use.</a:t>
            </a:r>
          </a:p>
        </p:txBody>
      </p:sp>
      <p:sp>
        <p:nvSpPr>
          <p:cNvPr id="6" name="">
            <a:extLst xmlns:a="http://schemas.openxmlformats.org/drawingml/2006/main">
              <a:ext uri="{FF2B5EF4-FFF2-40B4-BE49-F238E27FC236}">
                <a16:creationId xmlns:a16="http://schemas.microsoft.com/office/drawing/2014/main" id="{2E2FD52A-8C71-467D-9896-5E15F977F1DD}"/>
              </a:ext>
            </a:extLst>
          </p:cNvPr>
          <p:cNvSpPr>
            <a:spLocks xmlns:a="http://schemas.openxmlformats.org/drawingml/2006/main" noGrp="1"/>
          </p:cNvSpPr>
          <p:nvPr/>
        </p:nvSpPr>
        <p:spPr>
          <a:xfrm xmlns:a="http://schemas.openxmlformats.org/drawingml/2006/main">
            <a:off x="609600" y="574357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D1F36D"/>
                </a:solidFill>
                <a:latin typeface="Helvetica Neue"/>
                <a:ea typeface="Helvetica Neue"/>
                <a:cs typeface="Helvetica Neue"/>
              </a:defRPr>
            </a:pPr>
            <a:r>
              <a:rPr sz="2250" b="1">
                <a:solidFill>
                  <a:srgbClr val="D1F36D"/>
                </a:solidFill>
                <a:latin typeface="Helvetica Neue"/>
                <a:ea typeface="Helvetica Neue"/>
                <a:cs typeface="Helvetica Neue"/>
              </a:rPr>
              <a:t>shadeshift-city.web.app</a:t>
            </a:r>
          </a:p>
        </p:txBody>
      </p:sp>
    </p:spTree>
    <p:extLst>
      <p:ext uri="{BB962C8B-B14F-4D97-AF65-F5344CB8AC3E}">
        <p14:creationId xmlns:p14="http://schemas.microsoft.com/office/powerpoint/2010/main" val="5866631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2026-09-17T20:28:53.3640000Z</dcterms:created>
  <dcterms:modified xsi:type="dcterms:W3CDTF">2026-09-17T20:28:53.3640000Z</dcterms:modified>
</coreProperties>
</file>